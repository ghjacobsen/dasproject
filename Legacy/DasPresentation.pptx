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0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766" autoAdjust="0"/>
  </p:normalViewPr>
  <p:slideViewPr>
    <p:cSldViewPr>
      <p:cViewPr varScale="1">
        <p:scale>
          <a:sx n="63" d="100"/>
          <a:sy n="63" d="100"/>
        </p:scale>
        <p:origin x="135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E02FA-1792-4479-9222-A35EB6DA5122}" type="datetimeFigureOut">
              <a:rPr lang="da-DK" smtClean="0"/>
              <a:t>15-12-2025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A9445-1CF9-45C6-BF6E-53C075E5E07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34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approach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nodes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sensors and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proximity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.,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Euclidean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 in a dual-fiber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fence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A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two-layer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Convolutional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 (GCN)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spatial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to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inter-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vibration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propagation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endParaRPr lang="da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a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b="1" dirty="0">
                <a:effectLst/>
              </a:rPr>
              <a:t>A Map (Graph Neural Network):</a:t>
            </a:r>
            <a:r>
              <a:rPr lang="en-US" dirty="0">
                <a:effectLst/>
              </a:rPr>
              <a:t> To understand </a:t>
            </a:r>
            <a:r>
              <a:rPr lang="en-US" i="1" dirty="0">
                <a:effectLst/>
              </a:rPr>
              <a:t>where</a:t>
            </a:r>
            <a:r>
              <a:rPr lang="en-US" dirty="0">
                <a:effectLst/>
              </a:rPr>
              <a:t> the sensors are located physically.</a:t>
            </a:r>
          </a:p>
          <a:p>
            <a:r>
              <a:rPr lang="en-US" dirty="0">
                <a:effectLst/>
              </a:rPr>
              <a:t>• </a:t>
            </a:r>
            <a:r>
              <a:rPr lang="en-US" b="1" dirty="0">
                <a:effectLst/>
              </a:rPr>
              <a:t>The Method:</a:t>
            </a:r>
            <a:r>
              <a:rPr lang="en-US" dirty="0">
                <a:effectLst/>
              </a:rPr>
              <a:t> The researchers treat every sensor channel as a "node" (a dot) on a graph. They draw connecting lines (edges) between sensors that are </a:t>
            </a:r>
            <a:r>
              <a:rPr lang="en-US" b="1" dirty="0">
                <a:effectLst/>
              </a:rPr>
              <a:t>physically close</a:t>
            </a:r>
            <a:r>
              <a:rPr lang="en-US" dirty="0">
                <a:effectLst/>
              </a:rPr>
              <a:t> to each other in the real world, not just close on the cable.</a:t>
            </a:r>
          </a:p>
          <a:p>
            <a:r>
              <a:rPr lang="en-US" dirty="0">
                <a:effectLst/>
              </a:rPr>
              <a:t>• </a:t>
            </a:r>
            <a:r>
              <a:rPr lang="en-US" b="1" dirty="0">
                <a:effectLst/>
              </a:rPr>
              <a:t>Why it matters:</a:t>
            </a:r>
            <a:r>
              <a:rPr lang="en-US" dirty="0">
                <a:effectLst/>
              </a:rPr>
              <a:t> This helps the system understand "spatial correlations." If a vibration hits one spot, the model knows which neighboring sensors </a:t>
            </a:r>
            <a:r>
              <a:rPr lang="en-US" i="1" dirty="0">
                <a:effectLst/>
              </a:rPr>
              <a:t>should</a:t>
            </a:r>
            <a:r>
              <a:rPr lang="en-US" dirty="0">
                <a:effectLst/>
              </a:rPr>
              <a:t> also feel it, even if they are far apart on the fiber spool</a:t>
            </a:r>
          </a:p>
          <a:p>
            <a:pPr marL="0" indent="0">
              <a:buNone/>
            </a:pPr>
            <a:endParaRPr lang="en-US" dirty="0">
              <a:effectLst/>
            </a:endParaRPr>
          </a:p>
          <a:p>
            <a:r>
              <a:rPr lang="en-US" dirty="0">
                <a:effectLst/>
              </a:rPr>
              <a:t>2. </a:t>
            </a:r>
            <a:r>
              <a:rPr lang="en-US" b="1" dirty="0">
                <a:effectLst/>
              </a:rPr>
              <a:t>A Restoration Tool (Diffusion Model):</a:t>
            </a:r>
            <a:r>
              <a:rPr lang="en-US" dirty="0">
                <a:effectLst/>
              </a:rPr>
              <a:t> To understand </a:t>
            </a:r>
            <a:r>
              <a:rPr lang="en-US" i="1" dirty="0">
                <a:effectLst/>
              </a:rPr>
              <a:t>how</a:t>
            </a:r>
            <a:r>
              <a:rPr lang="en-US" dirty="0">
                <a:effectLst/>
              </a:rPr>
              <a:t> normal vibrations change over time.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This part handles the </a:t>
            </a:r>
            <a:r>
              <a:rPr lang="en-US" b="1" dirty="0">
                <a:effectLst/>
              </a:rPr>
              <a:t>time</a:t>
            </a:r>
            <a:r>
              <a:rPr lang="en-US" dirty="0">
                <a:effectLst/>
              </a:rPr>
              <a:t> aspect (how the signal changes). A "Diffusion Model" is a type of generative AI (similar to those used to generate images) that is trained to remove noise from data.</a:t>
            </a:r>
          </a:p>
          <a:p>
            <a:r>
              <a:rPr lang="en-US" dirty="0">
                <a:effectLst/>
              </a:rPr>
              <a:t>• </a:t>
            </a:r>
            <a:r>
              <a:rPr lang="en-US" b="1" dirty="0">
                <a:effectLst/>
              </a:rPr>
              <a:t>Training (Learning "Normal"):</a:t>
            </a:r>
            <a:r>
              <a:rPr lang="en-US" dirty="0">
                <a:effectLst/>
              </a:rPr>
              <a:t> The model is fed </a:t>
            </a:r>
            <a:r>
              <a:rPr lang="en-US" i="1" dirty="0">
                <a:effectLst/>
              </a:rPr>
              <a:t>only</a:t>
            </a:r>
            <a:r>
              <a:rPr lang="en-US" dirty="0">
                <a:effectLst/>
              </a:rPr>
              <a:t> normal data (e.g., wind blowing, background noise). It takes a clean signal, adds "static" (Gaussian noise) to it until it is unrecognizable, and then practices removing that noise to get the clean signal back,.</a:t>
            </a:r>
          </a:p>
          <a:p>
            <a:r>
              <a:rPr lang="en-US" dirty="0">
                <a:effectLst/>
              </a:rPr>
              <a:t>• </a:t>
            </a:r>
            <a:r>
              <a:rPr lang="en-US" b="1" dirty="0">
                <a:effectLst/>
              </a:rPr>
              <a:t>The "Condition":</a:t>
            </a:r>
            <a:r>
              <a:rPr lang="en-US" dirty="0">
                <a:effectLst/>
              </a:rPr>
              <a:t> Crucially, when the model tries to clean the signal, it "peeks" at the </a:t>
            </a:r>
            <a:r>
              <a:rPr lang="en-US" b="1" dirty="0">
                <a:effectLst/>
              </a:rPr>
              <a:t>Map</a:t>
            </a:r>
            <a:r>
              <a:rPr lang="en-US" dirty="0">
                <a:effectLst/>
              </a:rPr>
              <a:t> (from the GNN) to guide its work. It uses the spatial layout to help decide how to fix the temporal signal</a:t>
            </a:r>
          </a:p>
          <a:p>
            <a:br>
              <a:rPr lang="en-US" dirty="0">
                <a:effectLst/>
              </a:rPr>
            </a:br>
            <a:r>
              <a:rPr lang="en-US" dirty="0">
                <a:effectLst/>
              </a:rPr>
              <a:t>Part 3: How It Detects Anomalies</a:t>
            </a:r>
          </a:p>
          <a:p>
            <a:r>
              <a:rPr lang="en-US" dirty="0">
                <a:effectLst/>
              </a:rPr>
              <a:t>Once the model is trained to be an expert at "cleaning" normal data, it is used to test new data.</a:t>
            </a:r>
          </a:p>
          <a:p>
            <a:r>
              <a:rPr lang="en-US" dirty="0">
                <a:effectLst/>
              </a:rPr>
              <a:t>1. </a:t>
            </a:r>
            <a:r>
              <a:rPr lang="en-US" b="1" dirty="0">
                <a:effectLst/>
              </a:rPr>
              <a:t>The Test:</a:t>
            </a:r>
            <a:r>
              <a:rPr lang="en-US" dirty="0">
                <a:effectLst/>
              </a:rPr>
              <a:t> The system takes a new, unknown signal and adds noise to it.</a:t>
            </a:r>
          </a:p>
          <a:p>
            <a:r>
              <a:rPr lang="en-US" dirty="0">
                <a:effectLst/>
              </a:rPr>
              <a:t>2. </a:t>
            </a:r>
            <a:r>
              <a:rPr lang="en-US" b="1" dirty="0">
                <a:effectLst/>
              </a:rPr>
              <a:t>The Attempt:</a:t>
            </a:r>
            <a:r>
              <a:rPr lang="en-US" dirty="0">
                <a:effectLst/>
              </a:rPr>
              <a:t> The model tries to "clean" (reconstruct) it, assuming it is normal data.</a:t>
            </a:r>
          </a:p>
          <a:p>
            <a:r>
              <a:rPr lang="en-US" dirty="0">
                <a:effectLst/>
              </a:rPr>
              <a:t>3. </a:t>
            </a:r>
            <a:r>
              <a:rPr lang="en-US" b="1" dirty="0">
                <a:effectLst/>
              </a:rPr>
              <a:t>The Result: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    ◦ </a:t>
            </a:r>
            <a:r>
              <a:rPr lang="en-US" b="1" dirty="0">
                <a:effectLst/>
              </a:rPr>
              <a:t>If the data is Normal (e.g., wind):</a:t>
            </a:r>
            <a:r>
              <a:rPr lang="en-US" dirty="0">
                <a:effectLst/>
              </a:rPr>
              <a:t> The model recognizes the pattern and reconstructs it perfectly. The "reconstruction error" is low.</a:t>
            </a:r>
          </a:p>
          <a:p>
            <a:r>
              <a:rPr lang="en-US" dirty="0">
                <a:effectLst/>
              </a:rPr>
              <a:t>    ◦ </a:t>
            </a:r>
            <a:r>
              <a:rPr lang="en-US" b="1" dirty="0">
                <a:effectLst/>
              </a:rPr>
              <a:t>If the data is an Anomaly (e.g., digging):</a:t>
            </a:r>
            <a:r>
              <a:rPr lang="en-US" dirty="0">
                <a:effectLst/>
              </a:rPr>
              <a:t> The model has never learned how to "clean" a digging signal. It tries to force it to look like wind/background noise and fails. The resulting reconstruction looks very different from the input. The "reconstruction error" is high,.</a:t>
            </a:r>
          </a:p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A9445-1CF9-45C6-BF6E-53C075E5E07F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0863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This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for DAS </a:t>
            </a:r>
            <a:r>
              <a:rPr lang="da-DK" dirty="0" err="1"/>
              <a:t>signalling</a:t>
            </a:r>
            <a:r>
              <a:rPr lang="da-DK" dirty="0"/>
              <a:t> a high speed </a:t>
            </a:r>
            <a:r>
              <a:rPr lang="da-DK" dirty="0" err="1"/>
              <a:t>train</a:t>
            </a:r>
            <a:r>
              <a:rPr lang="da-DK" dirty="0"/>
              <a:t>, to </a:t>
            </a:r>
            <a:r>
              <a:rPr lang="da-DK" dirty="0" err="1"/>
              <a:t>see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wall </a:t>
            </a:r>
            <a:r>
              <a:rPr lang="da-DK" dirty="0" err="1"/>
              <a:t>clmbing</a:t>
            </a:r>
            <a:r>
              <a:rPr lang="da-DK" dirty="0"/>
              <a:t> or </a:t>
            </a:r>
            <a:r>
              <a:rPr lang="da-DK" dirty="0" err="1"/>
              <a:t>breaking</a:t>
            </a:r>
            <a:r>
              <a:rPr lang="da-DK" dirty="0"/>
              <a:t> of the </a:t>
            </a:r>
            <a:r>
              <a:rPr lang="da-DK" dirty="0" err="1"/>
              <a:t>rails</a:t>
            </a:r>
            <a:r>
              <a:rPr lang="da-DK" dirty="0"/>
              <a:t>.</a:t>
            </a:r>
          </a:p>
          <a:p>
            <a:endParaRPr lang="da-DK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K-means clustering algorithm establishes feature centers for normal data. During testing, the system calculates the distance between a new signal's features and these centers; if the distance exceeds a threshold defined by the validation set, the window is flagged as an anomaly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reduce false alarms caused by short-duration noise, the method employs a window accumulation mechanism. It retrospectively checks prior windows, and an alarm is only confirmed if a specific number of recent windows are also classified as abnormal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A9445-1CF9-45C6-BF6E-53C075E5E07F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681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1847" y="589491"/>
            <a:ext cx="16011504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345" y="2600677"/>
            <a:ext cx="7740015" cy="4097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8071" y="9468643"/>
            <a:ext cx="1235075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pc="50" dirty="0"/>
              <a:t>G</a:t>
            </a:r>
            <a:r>
              <a:rPr spc="150" dirty="0"/>
              <a:t> 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4965700"/>
            <a:ext cx="15544800" cy="361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8225" y="1053041"/>
            <a:ext cx="7261859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700" spc="190" dirty="0">
                <a:solidFill>
                  <a:srgbClr val="0A1C38"/>
                </a:solidFill>
                <a:latin typeface="Calibri"/>
                <a:cs typeface="Calibri"/>
              </a:rPr>
              <a:t>The</a:t>
            </a:r>
            <a:r>
              <a:rPr sz="7700" spc="-229" dirty="0">
                <a:solidFill>
                  <a:srgbClr val="0A1C38"/>
                </a:solidFill>
                <a:latin typeface="Calibri"/>
                <a:cs typeface="Calibri"/>
              </a:rPr>
              <a:t> </a:t>
            </a:r>
            <a:r>
              <a:rPr sz="7700" spc="190" dirty="0">
                <a:solidFill>
                  <a:srgbClr val="081836"/>
                </a:solidFill>
                <a:latin typeface="Calibri"/>
                <a:cs typeface="Calibri"/>
              </a:rPr>
              <a:t>Unseen</a:t>
            </a:r>
            <a:r>
              <a:rPr sz="7700" spc="-140" dirty="0">
                <a:solidFill>
                  <a:srgbClr val="081836"/>
                </a:solidFill>
                <a:latin typeface="Calibri"/>
                <a:cs typeface="Calibri"/>
              </a:rPr>
              <a:t> </a:t>
            </a:r>
            <a:r>
              <a:rPr sz="7700" spc="225" dirty="0">
                <a:solidFill>
                  <a:srgbClr val="0A1833"/>
                </a:solidFill>
                <a:latin typeface="Calibri"/>
                <a:cs typeface="Calibri"/>
              </a:rPr>
              <a:t>Fleet</a:t>
            </a:r>
            <a:endParaRPr sz="7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9306" y="2794478"/>
            <a:ext cx="12799695" cy="814967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019"/>
              </a:spcBef>
            </a:pPr>
            <a:r>
              <a:rPr sz="4300" spc="-25" dirty="0">
                <a:solidFill>
                  <a:srgbClr val="2D2D2D"/>
                </a:solidFill>
                <a:latin typeface="Calibri"/>
                <a:cs typeface="Calibri"/>
              </a:rPr>
              <a:t>Detecting</a:t>
            </a:r>
            <a:r>
              <a:rPr sz="4300" spc="-114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2A2A2A"/>
                </a:solidFill>
                <a:latin typeface="Calibri"/>
                <a:cs typeface="Calibri"/>
              </a:rPr>
              <a:t>Dark</a:t>
            </a:r>
            <a:r>
              <a:rPr sz="4300" spc="-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2B2B2B"/>
                </a:solidFill>
                <a:latin typeface="Calibri"/>
                <a:cs typeface="Calibri"/>
              </a:rPr>
              <a:t>Ships</a:t>
            </a:r>
            <a:r>
              <a:rPr sz="4300" spc="-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2A2A2A"/>
                </a:solidFill>
                <a:latin typeface="Calibri"/>
                <a:cs typeface="Calibri"/>
              </a:rPr>
              <a:t>with</a:t>
            </a:r>
            <a:r>
              <a:rPr sz="4300" spc="-19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4300" spc="-40" dirty="0">
                <a:solidFill>
                  <a:srgbClr val="2B2B2B"/>
                </a:solidFill>
                <a:latin typeface="Calibri"/>
                <a:cs typeface="Calibri"/>
              </a:rPr>
              <a:t>Distributed</a:t>
            </a:r>
            <a:r>
              <a:rPr sz="4300" spc="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2F2F2F"/>
                </a:solidFill>
                <a:latin typeface="Calibri"/>
                <a:cs typeface="Calibri"/>
              </a:rPr>
              <a:t>Acoustic</a:t>
            </a:r>
            <a:r>
              <a:rPr sz="4300" spc="1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2D2D2D"/>
                </a:solidFill>
                <a:latin typeface="Calibri"/>
                <a:cs typeface="Calibri"/>
              </a:rPr>
              <a:t>Sensing</a:t>
            </a:r>
            <a:endParaRPr sz="4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4993" y="8996891"/>
            <a:ext cx="81521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27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700" spc="60" dirty="0">
                <a:solidFill>
                  <a:srgbClr val="151515"/>
                </a:solidFill>
                <a:latin typeface="Calibri"/>
                <a:cs typeface="Calibri"/>
              </a:rPr>
              <a:t>Proof-</a:t>
            </a:r>
            <a:r>
              <a:rPr sz="2700" spc="55" dirty="0">
                <a:solidFill>
                  <a:srgbClr val="151515"/>
                </a:solidFill>
                <a:latin typeface="Calibri"/>
                <a:cs typeface="Calibri"/>
              </a:rPr>
              <a:t>of-</a:t>
            </a:r>
            <a:r>
              <a:rPr sz="2700" spc="70" dirty="0">
                <a:solidFill>
                  <a:srgbClr val="151515"/>
                </a:solidFill>
                <a:latin typeface="Calibri"/>
                <a:cs typeface="Calibri"/>
              </a:rPr>
              <a:t>Concept</a:t>
            </a:r>
            <a:r>
              <a:rPr sz="2700" spc="-10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1D1D1D"/>
                </a:solidFill>
                <a:latin typeface="Calibri"/>
                <a:cs typeface="Calibri"/>
              </a:rPr>
              <a:t>for</a:t>
            </a:r>
            <a:r>
              <a:rPr sz="2700" spc="6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700" spc="50" dirty="0">
                <a:solidFill>
                  <a:srgbClr val="1A1A1A"/>
                </a:solidFill>
                <a:latin typeface="Calibri"/>
                <a:cs typeface="Calibri"/>
              </a:rPr>
              <a:t>Persistent</a:t>
            </a:r>
            <a:r>
              <a:rPr sz="2700" spc="1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1A1A1A"/>
                </a:solidFill>
                <a:latin typeface="Calibri"/>
                <a:cs typeface="Calibri"/>
              </a:rPr>
              <a:t>Maritime</a:t>
            </a:r>
            <a:r>
              <a:rPr sz="2700" spc="10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700" spc="50" dirty="0">
                <a:solidFill>
                  <a:srgbClr val="1A1A1A"/>
                </a:solidFill>
                <a:latin typeface="Calibri"/>
                <a:cs typeface="Calibri"/>
              </a:rPr>
              <a:t>Surveillance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0831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7831" y="3407257"/>
            <a:ext cx="6082477" cy="26010"/>
          </a:xfrm>
          <a:custGeom>
            <a:avLst/>
            <a:gdLst>
              <a:gd name="csX0" fmla="*/ 0 w 6082477"/>
              <a:gd name="csY0" fmla="*/ 0 h 26010"/>
              <a:gd name="csX1" fmla="*/ 554181 w 6082477"/>
              <a:gd name="csY1" fmla="*/ 0 h 26010"/>
              <a:gd name="csX2" fmla="*/ 1108362 w 6082477"/>
              <a:gd name="csY2" fmla="*/ 0 h 26010"/>
              <a:gd name="csX3" fmla="*/ 1845018 w 6082477"/>
              <a:gd name="csY3" fmla="*/ 0 h 26010"/>
              <a:gd name="csX4" fmla="*/ 2581674 w 6082477"/>
              <a:gd name="csY4" fmla="*/ 0 h 26010"/>
              <a:gd name="csX5" fmla="*/ 3196680 w 6082477"/>
              <a:gd name="csY5" fmla="*/ 0 h 26010"/>
              <a:gd name="csX6" fmla="*/ 3750861 w 6082477"/>
              <a:gd name="csY6" fmla="*/ 0 h 26010"/>
              <a:gd name="csX7" fmla="*/ 4305042 w 6082477"/>
              <a:gd name="csY7" fmla="*/ 0 h 26010"/>
              <a:gd name="csX8" fmla="*/ 4798399 w 6082477"/>
              <a:gd name="csY8" fmla="*/ 0 h 26010"/>
              <a:gd name="csX9" fmla="*/ 6082477 w 6082477"/>
              <a:gd name="csY9" fmla="*/ 0 h 26010"/>
              <a:gd name="csX10" fmla="*/ 6082477 w 6082477"/>
              <a:gd name="csY10" fmla="*/ 26010 h 26010"/>
              <a:gd name="csX11" fmla="*/ 5467471 w 6082477"/>
              <a:gd name="csY11" fmla="*/ 26010 h 26010"/>
              <a:gd name="csX12" fmla="*/ 4852465 w 6082477"/>
              <a:gd name="csY12" fmla="*/ 26010 h 26010"/>
              <a:gd name="csX13" fmla="*/ 4237459 w 6082477"/>
              <a:gd name="csY13" fmla="*/ 26010 h 26010"/>
              <a:gd name="csX14" fmla="*/ 3561628 w 6082477"/>
              <a:gd name="csY14" fmla="*/ 26010 h 26010"/>
              <a:gd name="csX15" fmla="*/ 2824973 w 6082477"/>
              <a:gd name="csY15" fmla="*/ 26010 h 26010"/>
              <a:gd name="csX16" fmla="*/ 2331616 w 6082477"/>
              <a:gd name="csY16" fmla="*/ 26010 h 26010"/>
              <a:gd name="csX17" fmla="*/ 1838260 w 6082477"/>
              <a:gd name="csY17" fmla="*/ 26010 h 26010"/>
              <a:gd name="csX18" fmla="*/ 1344903 w 6082477"/>
              <a:gd name="csY18" fmla="*/ 26010 h 26010"/>
              <a:gd name="csX19" fmla="*/ 790722 w 6082477"/>
              <a:gd name="csY19" fmla="*/ 26010 h 26010"/>
              <a:gd name="csX20" fmla="*/ 0 w 6082477"/>
              <a:gd name="csY20" fmla="*/ 26010 h 26010"/>
              <a:gd name="csX21" fmla="*/ 0 w 6082477"/>
              <a:gd name="csY21" fmla="*/ 0 h 26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6082477" h="26010" fill="none" extrusionOk="0">
                <a:moveTo>
                  <a:pt x="0" y="0"/>
                </a:moveTo>
                <a:cubicBezTo>
                  <a:pt x="209551" y="-21544"/>
                  <a:pt x="384778" y="-1172"/>
                  <a:pt x="554181" y="0"/>
                </a:cubicBezTo>
                <a:cubicBezTo>
                  <a:pt x="723584" y="1172"/>
                  <a:pt x="902458" y="401"/>
                  <a:pt x="1108362" y="0"/>
                </a:cubicBezTo>
                <a:cubicBezTo>
                  <a:pt x="1314266" y="-401"/>
                  <a:pt x="1657500" y="24550"/>
                  <a:pt x="1845018" y="0"/>
                </a:cubicBezTo>
                <a:cubicBezTo>
                  <a:pt x="2032536" y="-24550"/>
                  <a:pt x="2427419" y="21357"/>
                  <a:pt x="2581674" y="0"/>
                </a:cubicBezTo>
                <a:cubicBezTo>
                  <a:pt x="2735929" y="-21357"/>
                  <a:pt x="2905013" y="9835"/>
                  <a:pt x="3196680" y="0"/>
                </a:cubicBezTo>
                <a:cubicBezTo>
                  <a:pt x="3488347" y="-9835"/>
                  <a:pt x="3504934" y="-16349"/>
                  <a:pt x="3750861" y="0"/>
                </a:cubicBezTo>
                <a:cubicBezTo>
                  <a:pt x="3996788" y="16349"/>
                  <a:pt x="4046127" y="19412"/>
                  <a:pt x="4305042" y="0"/>
                </a:cubicBezTo>
                <a:cubicBezTo>
                  <a:pt x="4563957" y="-19412"/>
                  <a:pt x="4675790" y="12012"/>
                  <a:pt x="4798399" y="0"/>
                </a:cubicBezTo>
                <a:cubicBezTo>
                  <a:pt x="4921008" y="-12012"/>
                  <a:pt x="5695266" y="37494"/>
                  <a:pt x="6082477" y="0"/>
                </a:cubicBezTo>
                <a:cubicBezTo>
                  <a:pt x="6081200" y="6547"/>
                  <a:pt x="6081531" y="20504"/>
                  <a:pt x="6082477" y="26010"/>
                </a:cubicBezTo>
                <a:cubicBezTo>
                  <a:pt x="5914708" y="30216"/>
                  <a:pt x="5654976" y="23145"/>
                  <a:pt x="5467471" y="26010"/>
                </a:cubicBezTo>
                <a:cubicBezTo>
                  <a:pt x="5279966" y="28875"/>
                  <a:pt x="5051573" y="48809"/>
                  <a:pt x="4852465" y="26010"/>
                </a:cubicBezTo>
                <a:cubicBezTo>
                  <a:pt x="4653357" y="3211"/>
                  <a:pt x="4421695" y="23091"/>
                  <a:pt x="4237459" y="26010"/>
                </a:cubicBezTo>
                <a:cubicBezTo>
                  <a:pt x="4053223" y="28929"/>
                  <a:pt x="3812481" y="-5468"/>
                  <a:pt x="3561628" y="26010"/>
                </a:cubicBezTo>
                <a:cubicBezTo>
                  <a:pt x="3310775" y="57488"/>
                  <a:pt x="3093701" y="27551"/>
                  <a:pt x="2824973" y="26010"/>
                </a:cubicBezTo>
                <a:cubicBezTo>
                  <a:pt x="2556245" y="24469"/>
                  <a:pt x="2432811" y="15966"/>
                  <a:pt x="2331616" y="26010"/>
                </a:cubicBezTo>
                <a:cubicBezTo>
                  <a:pt x="2230421" y="36054"/>
                  <a:pt x="1946655" y="1648"/>
                  <a:pt x="1838260" y="26010"/>
                </a:cubicBezTo>
                <a:cubicBezTo>
                  <a:pt x="1729865" y="50372"/>
                  <a:pt x="1538098" y="22558"/>
                  <a:pt x="1344903" y="26010"/>
                </a:cubicBezTo>
                <a:cubicBezTo>
                  <a:pt x="1151708" y="29462"/>
                  <a:pt x="1062162" y="40362"/>
                  <a:pt x="790722" y="26010"/>
                </a:cubicBezTo>
                <a:cubicBezTo>
                  <a:pt x="519282" y="11658"/>
                  <a:pt x="241225" y="35190"/>
                  <a:pt x="0" y="26010"/>
                </a:cubicBezTo>
                <a:cubicBezTo>
                  <a:pt x="111" y="13885"/>
                  <a:pt x="631" y="12848"/>
                  <a:pt x="0" y="0"/>
                </a:cubicBezTo>
                <a:close/>
              </a:path>
              <a:path w="6082477" h="26010" stroke="0" extrusionOk="0">
                <a:moveTo>
                  <a:pt x="0" y="0"/>
                </a:moveTo>
                <a:cubicBezTo>
                  <a:pt x="258103" y="9565"/>
                  <a:pt x="346361" y="-5387"/>
                  <a:pt x="554181" y="0"/>
                </a:cubicBezTo>
                <a:cubicBezTo>
                  <a:pt x="762001" y="5387"/>
                  <a:pt x="940691" y="3846"/>
                  <a:pt x="1047538" y="0"/>
                </a:cubicBezTo>
                <a:cubicBezTo>
                  <a:pt x="1154385" y="-3846"/>
                  <a:pt x="1462381" y="-10431"/>
                  <a:pt x="1601719" y="0"/>
                </a:cubicBezTo>
                <a:cubicBezTo>
                  <a:pt x="1741057" y="10431"/>
                  <a:pt x="2102199" y="26798"/>
                  <a:pt x="2277550" y="0"/>
                </a:cubicBezTo>
                <a:cubicBezTo>
                  <a:pt x="2452901" y="-26798"/>
                  <a:pt x="2862129" y="-23187"/>
                  <a:pt x="3014205" y="0"/>
                </a:cubicBezTo>
                <a:cubicBezTo>
                  <a:pt x="3166281" y="23187"/>
                  <a:pt x="3466612" y="20810"/>
                  <a:pt x="3811686" y="0"/>
                </a:cubicBezTo>
                <a:cubicBezTo>
                  <a:pt x="4156760" y="-20810"/>
                  <a:pt x="4355229" y="10797"/>
                  <a:pt x="4609166" y="0"/>
                </a:cubicBezTo>
                <a:cubicBezTo>
                  <a:pt x="4863103" y="-10797"/>
                  <a:pt x="5004866" y="-6163"/>
                  <a:pt x="5224172" y="0"/>
                </a:cubicBezTo>
                <a:cubicBezTo>
                  <a:pt x="5443478" y="6163"/>
                  <a:pt x="5835388" y="26195"/>
                  <a:pt x="6082477" y="0"/>
                </a:cubicBezTo>
                <a:cubicBezTo>
                  <a:pt x="6082331" y="12298"/>
                  <a:pt x="6082660" y="20369"/>
                  <a:pt x="6082477" y="26010"/>
                </a:cubicBezTo>
                <a:cubicBezTo>
                  <a:pt x="5906792" y="18977"/>
                  <a:pt x="5804493" y="38761"/>
                  <a:pt x="5589121" y="26010"/>
                </a:cubicBezTo>
                <a:cubicBezTo>
                  <a:pt x="5373749" y="13259"/>
                  <a:pt x="5328427" y="37022"/>
                  <a:pt x="5095764" y="26010"/>
                </a:cubicBezTo>
                <a:cubicBezTo>
                  <a:pt x="4863101" y="14998"/>
                  <a:pt x="4668859" y="18433"/>
                  <a:pt x="4359109" y="26010"/>
                </a:cubicBezTo>
                <a:cubicBezTo>
                  <a:pt x="4049359" y="33587"/>
                  <a:pt x="3954215" y="16232"/>
                  <a:pt x="3744103" y="26010"/>
                </a:cubicBezTo>
                <a:cubicBezTo>
                  <a:pt x="3533991" y="35788"/>
                  <a:pt x="3254154" y="17237"/>
                  <a:pt x="3129097" y="26010"/>
                </a:cubicBezTo>
                <a:cubicBezTo>
                  <a:pt x="3004040" y="34783"/>
                  <a:pt x="2722391" y="44694"/>
                  <a:pt x="2331616" y="26010"/>
                </a:cubicBezTo>
                <a:cubicBezTo>
                  <a:pt x="1940841" y="7326"/>
                  <a:pt x="1984208" y="41827"/>
                  <a:pt x="1777435" y="26010"/>
                </a:cubicBezTo>
                <a:cubicBezTo>
                  <a:pt x="1570662" y="10193"/>
                  <a:pt x="1399749" y="7911"/>
                  <a:pt x="1040779" y="26010"/>
                </a:cubicBezTo>
                <a:cubicBezTo>
                  <a:pt x="681809" y="44109"/>
                  <a:pt x="288821" y="48979"/>
                  <a:pt x="0" y="26010"/>
                </a:cubicBezTo>
                <a:cubicBezTo>
                  <a:pt x="-600" y="19938"/>
                  <a:pt x="1075" y="1287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C96CF-F2DB-FFD7-64B0-37C0639054DD}"/>
              </a:ext>
            </a:extLst>
          </p:cNvPr>
          <p:cNvSpPr txBox="1"/>
          <p:nvPr/>
        </p:nvSpPr>
        <p:spPr>
          <a:xfrm>
            <a:off x="917448" y="3849420"/>
            <a:ext cx="9882225" cy="4954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MSc in Human-Centered Artificial Intelligence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Specialization in Machine Learning at Scale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BSc in Electrical Engineering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Interests in Signal Processing, Statistics, Applied Machine Learning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Ingen tilgængelig billedbeskrivelse.">
            <a:extLst>
              <a:ext uri="{FF2B5EF4-FFF2-40B4-BE49-F238E27FC236}">
                <a16:creationId xmlns:a16="http://schemas.microsoft.com/office/drawing/2014/main" id="{9A44F065-5C36-85E4-EBBE-C1B34198B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5"/>
          <a:stretch>
            <a:fillRect/>
          </a:stretch>
        </p:blipFill>
        <p:spPr bwMode="auto">
          <a:xfrm>
            <a:off x="11682764" y="468171"/>
            <a:ext cx="4931188" cy="487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ssemeddelelser | DTU - Danmarks Tekniske Universitet">
            <a:extLst>
              <a:ext uri="{FF2B5EF4-FFF2-40B4-BE49-F238E27FC236}">
                <a16:creationId xmlns:a16="http://schemas.microsoft.com/office/drawing/2014/main" id="{80801A6D-90F3-7103-C587-3C39D5E8F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71504" y="5852781"/>
            <a:ext cx="5727496" cy="299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1481CB-16F5-1A00-4E9C-FEAB76D8D096}"/>
              </a:ext>
            </a:extLst>
          </p:cNvPr>
          <p:cNvSpPr txBox="1"/>
          <p:nvPr/>
        </p:nvSpPr>
        <p:spPr>
          <a:xfrm>
            <a:off x="1193800" y="2209800"/>
            <a:ext cx="8124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 dirty="0"/>
              <a:t>Gustav </a:t>
            </a:r>
            <a:r>
              <a:rPr lang="da-DK" sz="4800" b="1" dirty="0" err="1"/>
              <a:t>Hylsberg</a:t>
            </a:r>
            <a:r>
              <a:rPr lang="da-DK" sz="4800" b="1" dirty="0"/>
              <a:t> Jacobsen</a:t>
            </a:r>
          </a:p>
        </p:txBody>
      </p:sp>
    </p:spTree>
    <p:extLst>
      <p:ext uri="{BB962C8B-B14F-4D97-AF65-F5344CB8AC3E}">
        <p14:creationId xmlns:p14="http://schemas.microsoft.com/office/powerpoint/2010/main" val="331052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0" y="2146300"/>
            <a:ext cx="9131300" cy="607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0730" y="1719438"/>
            <a:ext cx="4738870" cy="760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225" dirty="0">
                <a:solidFill>
                  <a:srgbClr val="03132D"/>
                </a:solidFill>
              </a:rPr>
              <a:t>Today's</a:t>
            </a:r>
            <a:r>
              <a:rPr sz="4850" spc="-100" dirty="0">
                <a:solidFill>
                  <a:srgbClr val="03132D"/>
                </a:solidFill>
              </a:rPr>
              <a:t> </a:t>
            </a:r>
            <a:r>
              <a:rPr lang="en-US" sz="4850" spc="-10" dirty="0">
                <a:solidFill>
                  <a:srgbClr val="031131"/>
                </a:solidFill>
              </a:rPr>
              <a:t>M</a:t>
            </a:r>
            <a:r>
              <a:rPr sz="4850" spc="-10" dirty="0">
                <a:solidFill>
                  <a:srgbClr val="031131"/>
                </a:solidFill>
              </a:rPr>
              <a:t>aritime</a:t>
            </a:r>
            <a:endParaRPr sz="4850" dirty="0"/>
          </a:p>
        </p:txBody>
      </p:sp>
      <p:sp>
        <p:nvSpPr>
          <p:cNvPr id="4" name="object 4"/>
          <p:cNvSpPr txBox="1"/>
          <p:nvPr/>
        </p:nvSpPr>
        <p:spPr>
          <a:xfrm>
            <a:off x="941869" y="2327627"/>
            <a:ext cx="4959350" cy="514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90">
              <a:lnSpc>
                <a:spcPts val="5120"/>
              </a:lnSpc>
              <a:spcBef>
                <a:spcPts val="120"/>
              </a:spcBef>
            </a:pPr>
            <a:r>
              <a:rPr sz="4700" spc="-10" dirty="0">
                <a:solidFill>
                  <a:srgbClr val="05132D"/>
                </a:solidFill>
                <a:latin typeface="Arial MT"/>
                <a:cs typeface="Arial MT"/>
              </a:rPr>
              <a:t>Surveillance</a:t>
            </a:r>
            <a:endParaRPr sz="4700" dirty="0">
              <a:latin typeface="Arial MT"/>
              <a:cs typeface="Arial MT"/>
            </a:endParaRPr>
          </a:p>
          <a:p>
            <a:pPr marL="12700">
              <a:lnSpc>
                <a:spcPts val="5240"/>
              </a:lnSpc>
            </a:pPr>
            <a:r>
              <a:rPr sz="4800" spc="-285" dirty="0">
                <a:solidFill>
                  <a:srgbClr val="05132F"/>
                </a:solidFill>
                <a:latin typeface="Arial MT"/>
                <a:cs typeface="Arial MT"/>
              </a:rPr>
              <a:t>Has</a:t>
            </a:r>
            <a:r>
              <a:rPr sz="4800" spc="-180" dirty="0">
                <a:solidFill>
                  <a:srgbClr val="05132F"/>
                </a:solidFill>
                <a:latin typeface="Arial MT"/>
                <a:cs typeface="Arial MT"/>
              </a:rPr>
              <a:t> </a:t>
            </a:r>
            <a:r>
              <a:rPr sz="4800" spc="-195" dirty="0">
                <a:solidFill>
                  <a:srgbClr val="01112B"/>
                </a:solidFill>
                <a:latin typeface="Arial MT"/>
                <a:cs typeface="Arial MT"/>
              </a:rPr>
              <a:t>a</a:t>
            </a:r>
            <a:r>
              <a:rPr sz="4800" spc="-420" dirty="0">
                <a:solidFill>
                  <a:srgbClr val="01112B"/>
                </a:solidFill>
                <a:latin typeface="Arial MT"/>
                <a:cs typeface="Arial MT"/>
              </a:rPr>
              <a:t> </a:t>
            </a:r>
            <a:r>
              <a:rPr sz="4800" spc="-20" dirty="0">
                <a:solidFill>
                  <a:srgbClr val="051838"/>
                </a:solidFill>
                <a:latin typeface="Arial MT"/>
                <a:cs typeface="Arial MT"/>
              </a:rPr>
              <a:t>Blind</a:t>
            </a:r>
            <a:r>
              <a:rPr sz="4800" spc="-270" dirty="0">
                <a:solidFill>
                  <a:srgbClr val="051838"/>
                </a:solidFill>
                <a:latin typeface="Arial MT"/>
                <a:cs typeface="Arial MT"/>
              </a:rPr>
              <a:t> </a:t>
            </a:r>
            <a:r>
              <a:rPr sz="4800" spc="-20" dirty="0">
                <a:solidFill>
                  <a:srgbClr val="051534"/>
                </a:solidFill>
                <a:latin typeface="Arial MT"/>
                <a:cs typeface="Arial MT"/>
              </a:rPr>
              <a:t>Spot</a:t>
            </a:r>
            <a:endParaRPr sz="4800" dirty="0">
              <a:latin typeface="Arial MT"/>
              <a:cs typeface="Arial MT"/>
            </a:endParaRPr>
          </a:p>
          <a:p>
            <a:pPr marL="353695" marR="59690" indent="-244475">
              <a:lnSpc>
                <a:spcPct val="93400"/>
              </a:lnSpc>
              <a:spcBef>
                <a:spcPts val="2675"/>
              </a:spcBef>
              <a:buChar char="•"/>
              <a:tabLst>
                <a:tab pos="353695" algn="l"/>
                <a:tab pos="365125" algn="l"/>
              </a:tabLst>
            </a:pPr>
            <a:r>
              <a:rPr sz="2350" dirty="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sz="2350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2350" spc="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global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standard</a:t>
            </a:r>
            <a:r>
              <a:rPr sz="2350" spc="210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sz="2350" spc="6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sz="2350" spc="11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0A0A0A"/>
                </a:solidFill>
                <a:latin typeface="Calibri"/>
                <a:cs typeface="Calibri"/>
              </a:rPr>
              <a:t>Automatic </a:t>
            </a:r>
            <a:r>
              <a:rPr sz="2350" spc="10" dirty="0">
                <a:latin typeface="Calibri"/>
                <a:cs typeface="Calibri"/>
              </a:rPr>
              <a:t>Identification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spc="10" dirty="0">
                <a:solidFill>
                  <a:srgbClr val="0C0C0C"/>
                </a:solidFill>
                <a:latin typeface="Calibri"/>
                <a:cs typeface="Calibri"/>
              </a:rPr>
              <a:t>System</a:t>
            </a:r>
            <a:r>
              <a:rPr sz="2350" spc="3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350" spc="60" dirty="0">
                <a:latin typeface="Calibri"/>
                <a:cs typeface="Calibri"/>
              </a:rPr>
              <a:t>(AIS),</a:t>
            </a:r>
            <a:r>
              <a:rPr sz="2350" spc="250" dirty="0"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111111"/>
                </a:solidFill>
                <a:latin typeface="Calibri"/>
                <a:cs typeface="Calibri"/>
              </a:rPr>
              <a:t>which </a:t>
            </a:r>
            <a:r>
              <a:rPr sz="2350" dirty="0">
                <a:latin typeface="Calibri"/>
                <a:cs typeface="Calibri"/>
              </a:rPr>
              <a:t>requires</a:t>
            </a:r>
            <a:r>
              <a:rPr sz="2350" spc="2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ships</a:t>
            </a:r>
            <a:r>
              <a:rPr sz="2350" spc="1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11111"/>
                </a:solidFill>
                <a:latin typeface="Calibri"/>
                <a:cs typeface="Calibri"/>
              </a:rPr>
              <a:t>broadcast</a:t>
            </a:r>
            <a:r>
              <a:rPr sz="2350" spc="2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111111"/>
                </a:solidFill>
                <a:latin typeface="Calibri"/>
                <a:cs typeface="Calibri"/>
              </a:rPr>
              <a:t>their </a:t>
            </a:r>
            <a:r>
              <a:rPr sz="2350" dirty="0">
                <a:latin typeface="Calibri"/>
                <a:cs typeface="Calibri"/>
              </a:rPr>
              <a:t>identity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position.</a:t>
            </a:r>
            <a:endParaRPr sz="2350" dirty="0">
              <a:latin typeface="Calibri"/>
              <a:cs typeface="Calibri"/>
            </a:endParaRPr>
          </a:p>
          <a:p>
            <a:pPr marL="347980" marR="83185" indent="-241935">
              <a:lnSpc>
                <a:spcPts val="2600"/>
              </a:lnSpc>
              <a:spcBef>
                <a:spcPts val="1650"/>
              </a:spcBef>
              <a:buChar char="•"/>
              <a:tabLst>
                <a:tab pos="347980" algn="l"/>
                <a:tab pos="361950" algn="l"/>
              </a:tabLst>
            </a:pPr>
            <a:r>
              <a:rPr sz="2550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latin typeface="Calibri"/>
                <a:cs typeface="Calibri"/>
              </a:rPr>
              <a:t>This</a:t>
            </a:r>
            <a:r>
              <a:rPr sz="2550" spc="-130" dirty="0">
                <a:latin typeface="Calibri"/>
                <a:cs typeface="Calibri"/>
              </a:rPr>
              <a:t> </a:t>
            </a:r>
            <a:r>
              <a:rPr sz="2550" spc="-55" dirty="0">
                <a:latin typeface="Calibri"/>
                <a:cs typeface="Calibri"/>
              </a:rPr>
              <a:t>system</a:t>
            </a:r>
            <a:r>
              <a:rPr sz="2550" spc="-45" dirty="0"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31313"/>
                </a:solidFill>
                <a:latin typeface="Calibri"/>
                <a:cs typeface="Calibri"/>
              </a:rPr>
              <a:t>is</a:t>
            </a:r>
            <a:r>
              <a:rPr sz="2550" spc="-14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cooperative.</a:t>
            </a:r>
            <a:r>
              <a:rPr sz="2550" spc="50" dirty="0"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It</a:t>
            </a:r>
            <a:r>
              <a:rPr sz="2550" spc="1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spc="-45" dirty="0">
                <a:solidFill>
                  <a:srgbClr val="0C0C0C"/>
                </a:solidFill>
                <a:latin typeface="Calibri"/>
                <a:cs typeface="Calibri"/>
              </a:rPr>
              <a:t>can</a:t>
            </a:r>
            <a:r>
              <a:rPr sz="2550" spc="-10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161616"/>
                </a:solidFill>
                <a:latin typeface="Calibri"/>
                <a:cs typeface="Calibri"/>
              </a:rPr>
              <a:t>be </a:t>
            </a:r>
            <a:r>
              <a:rPr sz="2550" spc="-105" dirty="0">
                <a:solidFill>
                  <a:srgbClr val="0C0C0C"/>
                </a:solidFill>
                <a:latin typeface="Calibri"/>
                <a:cs typeface="Calibri"/>
              </a:rPr>
              <a:t>turned</a:t>
            </a:r>
            <a:r>
              <a:rPr sz="2550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off,</a:t>
            </a:r>
            <a:r>
              <a:rPr sz="2550" spc="-35" dirty="0">
                <a:latin typeface="Calibri"/>
                <a:cs typeface="Calibri"/>
              </a:rPr>
              <a:t> </a:t>
            </a:r>
            <a:r>
              <a:rPr sz="2550" spc="-80" dirty="0">
                <a:latin typeface="Calibri"/>
                <a:cs typeface="Calibri"/>
              </a:rPr>
              <a:t>creating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spc="-55" dirty="0">
                <a:solidFill>
                  <a:srgbClr val="0A0A0A"/>
                </a:solidFill>
                <a:latin typeface="Calibri"/>
                <a:cs typeface="Calibri"/>
              </a:rPr>
              <a:t>“Dark</a:t>
            </a:r>
            <a:r>
              <a:rPr sz="255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Ships.”</a:t>
            </a:r>
            <a:endParaRPr sz="2550" dirty="0">
              <a:latin typeface="Calibri"/>
              <a:cs typeface="Calibri"/>
            </a:endParaRPr>
          </a:p>
          <a:p>
            <a:pPr marL="346710" marR="5080" indent="-250190">
              <a:lnSpc>
                <a:spcPct val="95600"/>
              </a:lnSpc>
              <a:spcBef>
                <a:spcPts val="1455"/>
              </a:spcBef>
              <a:buChar char="•"/>
              <a:tabLst>
                <a:tab pos="346710" algn="l"/>
                <a:tab pos="352425" algn="l"/>
              </a:tabLst>
            </a:pPr>
            <a:r>
              <a:rPr sz="2350" dirty="0">
                <a:solidFill>
                  <a:srgbClr val="464646"/>
                </a:solidFill>
                <a:latin typeface="Calibri"/>
                <a:cs typeface="Calibri"/>
              </a:rPr>
              <a:t>	</a:t>
            </a:r>
            <a:r>
              <a:rPr sz="2350" dirty="0">
                <a:latin typeface="Calibri"/>
                <a:cs typeface="Calibri"/>
              </a:rPr>
              <a:t>These</a:t>
            </a:r>
            <a:r>
              <a:rPr sz="2350" spc="190" dirty="0">
                <a:latin typeface="Calibri"/>
                <a:cs typeface="Calibri"/>
              </a:rPr>
              <a:t> </a:t>
            </a:r>
            <a:r>
              <a:rPr sz="2350" spc="50" dirty="0">
                <a:latin typeface="Calibri"/>
                <a:cs typeface="Calibri"/>
              </a:rPr>
              <a:t>vessels</a:t>
            </a:r>
            <a:r>
              <a:rPr sz="2350" spc="1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pose</a:t>
            </a:r>
            <a:r>
              <a:rPr sz="2350" spc="10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significant</a:t>
            </a:r>
            <a:r>
              <a:rPr sz="2350" spc="32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risks: </a:t>
            </a:r>
            <a:r>
              <a:rPr sz="2350" dirty="0">
                <a:latin typeface="Calibri"/>
                <a:cs typeface="Calibri"/>
              </a:rPr>
              <a:t>illegal</a:t>
            </a:r>
            <a:r>
              <a:rPr sz="2350" spc="135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A0A0A"/>
                </a:solidFill>
                <a:latin typeface="Calibri"/>
                <a:cs typeface="Calibri"/>
              </a:rPr>
              <a:t>fishing,</a:t>
            </a:r>
            <a:r>
              <a:rPr sz="2350" spc="30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smuggling,</a:t>
            </a:r>
            <a:r>
              <a:rPr sz="2350" spc="195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2350" spc="14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0A0A0A"/>
                </a:solidFill>
                <a:latin typeface="Calibri"/>
                <a:cs typeface="Calibri"/>
              </a:rPr>
              <a:t>threats</a:t>
            </a:r>
            <a:r>
              <a:rPr lang="en-US" sz="2350" spc="-10" dirty="0">
                <a:solidFill>
                  <a:srgbClr val="0A0A0A"/>
                </a:solidFill>
                <a:latin typeface="Calibri"/>
                <a:cs typeface="Calibri"/>
              </a:rPr>
              <a:t> to national security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0" y="2654300"/>
            <a:ext cx="9131300" cy="554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3574" y="1772355"/>
            <a:ext cx="5785485" cy="19050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14604">
              <a:lnSpc>
                <a:spcPct val="87600"/>
              </a:lnSpc>
              <a:spcBef>
                <a:spcPts val="755"/>
              </a:spcBef>
            </a:pPr>
            <a:r>
              <a:rPr sz="4450" spc="-210" dirty="0">
                <a:solidFill>
                  <a:srgbClr val="010C28"/>
                </a:solidFill>
              </a:rPr>
              <a:t>We</a:t>
            </a:r>
            <a:r>
              <a:rPr sz="4450" spc="-229" dirty="0">
                <a:solidFill>
                  <a:srgbClr val="010C28"/>
                </a:solidFill>
              </a:rPr>
              <a:t> </a:t>
            </a:r>
            <a:r>
              <a:rPr sz="4450" spc="-200" dirty="0">
                <a:solidFill>
                  <a:srgbClr val="081631"/>
                </a:solidFill>
              </a:rPr>
              <a:t>Can</a:t>
            </a:r>
            <a:r>
              <a:rPr sz="4450" spc="-175" dirty="0">
                <a:solidFill>
                  <a:srgbClr val="081631"/>
                </a:solidFill>
              </a:rPr>
              <a:t> </a:t>
            </a:r>
            <a:r>
              <a:rPr sz="4450" spc="-50" dirty="0">
                <a:solidFill>
                  <a:srgbClr val="030F24"/>
                </a:solidFill>
              </a:rPr>
              <a:t>Turn</a:t>
            </a:r>
            <a:r>
              <a:rPr sz="4450" spc="-265" dirty="0">
                <a:solidFill>
                  <a:srgbClr val="030F24"/>
                </a:solidFill>
              </a:rPr>
              <a:t> </a:t>
            </a:r>
            <a:r>
              <a:rPr sz="4450" spc="-10" dirty="0">
                <a:solidFill>
                  <a:srgbClr val="010A1C"/>
                </a:solidFill>
              </a:rPr>
              <a:t>Seabed </a:t>
            </a:r>
            <a:r>
              <a:rPr sz="4500" dirty="0">
                <a:solidFill>
                  <a:srgbClr val="03132A"/>
                </a:solidFill>
              </a:rPr>
              <a:t>Fiber</a:t>
            </a:r>
            <a:r>
              <a:rPr sz="4500" spc="-135" dirty="0">
                <a:solidFill>
                  <a:srgbClr val="03132A"/>
                </a:solidFill>
              </a:rPr>
              <a:t> </a:t>
            </a:r>
            <a:r>
              <a:rPr sz="4500" dirty="0">
                <a:solidFill>
                  <a:srgbClr val="0C1C34"/>
                </a:solidFill>
              </a:rPr>
              <a:t>Optic</a:t>
            </a:r>
            <a:r>
              <a:rPr sz="4500" spc="-140" dirty="0">
                <a:solidFill>
                  <a:srgbClr val="0C1C34"/>
                </a:solidFill>
              </a:rPr>
              <a:t> </a:t>
            </a:r>
            <a:r>
              <a:rPr sz="4500" spc="-95" dirty="0">
                <a:solidFill>
                  <a:srgbClr val="030E26"/>
                </a:solidFill>
              </a:rPr>
              <a:t>Cables</a:t>
            </a:r>
            <a:r>
              <a:rPr sz="4500" spc="-210" dirty="0">
                <a:solidFill>
                  <a:srgbClr val="030E26"/>
                </a:solidFill>
              </a:rPr>
              <a:t> </a:t>
            </a:r>
            <a:r>
              <a:rPr sz="4500" spc="100" dirty="0">
                <a:solidFill>
                  <a:srgbClr val="010C21"/>
                </a:solidFill>
              </a:rPr>
              <a:t>into </a:t>
            </a:r>
            <a:r>
              <a:rPr sz="4500" dirty="0">
                <a:solidFill>
                  <a:srgbClr val="050F23"/>
                </a:solidFill>
              </a:rPr>
              <a:t>a</a:t>
            </a:r>
            <a:r>
              <a:rPr sz="4500" spc="-315" dirty="0">
                <a:solidFill>
                  <a:srgbClr val="050F23"/>
                </a:solidFill>
              </a:rPr>
              <a:t> </a:t>
            </a:r>
            <a:r>
              <a:rPr sz="4500" spc="-55" dirty="0">
                <a:solidFill>
                  <a:srgbClr val="05132F"/>
                </a:solidFill>
              </a:rPr>
              <a:t>Vast</a:t>
            </a:r>
            <a:r>
              <a:rPr sz="4500" spc="-240" dirty="0">
                <a:solidFill>
                  <a:srgbClr val="05132F"/>
                </a:solidFill>
              </a:rPr>
              <a:t> </a:t>
            </a:r>
            <a:r>
              <a:rPr sz="4500" dirty="0">
                <a:solidFill>
                  <a:srgbClr val="051331"/>
                </a:solidFill>
              </a:rPr>
              <a:t>Acoustic</a:t>
            </a:r>
            <a:r>
              <a:rPr sz="4500" spc="-114" dirty="0">
                <a:solidFill>
                  <a:srgbClr val="051331"/>
                </a:solidFill>
              </a:rPr>
              <a:t> </a:t>
            </a:r>
            <a:r>
              <a:rPr sz="4500" spc="-10" dirty="0">
                <a:solidFill>
                  <a:srgbClr val="05132D"/>
                </a:solidFill>
              </a:rPr>
              <a:t>Array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1035218" y="3938411"/>
            <a:ext cx="5085715" cy="38131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64160" marR="200025" indent="-252095">
              <a:lnSpc>
                <a:spcPts val="2600"/>
              </a:lnSpc>
              <a:spcBef>
                <a:spcPts val="655"/>
              </a:spcBef>
              <a:buChar char="•"/>
              <a:tabLst>
                <a:tab pos="264160" algn="l"/>
                <a:tab pos="268605" algn="l"/>
              </a:tabLst>
            </a:pPr>
            <a:r>
              <a:rPr sz="2600" dirty="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sz="2600" spc="-95" dirty="0">
                <a:solidFill>
                  <a:srgbClr val="0C0C0C"/>
                </a:solidFill>
                <a:latin typeface="Calibri"/>
                <a:cs typeface="Calibri"/>
              </a:rPr>
              <a:t>Distributed</a:t>
            </a:r>
            <a:r>
              <a:rPr sz="2600" spc="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600" spc="-65" dirty="0">
                <a:solidFill>
                  <a:srgbClr val="0C0C0C"/>
                </a:solidFill>
                <a:latin typeface="Calibri"/>
                <a:cs typeface="Calibri"/>
              </a:rPr>
              <a:t>Acoustic</a:t>
            </a:r>
            <a:r>
              <a:rPr sz="2600" spc="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600" spc="-65" dirty="0">
                <a:latin typeface="Calibri"/>
                <a:cs typeface="Calibri"/>
              </a:rPr>
              <a:t>Sensing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(OAS) </a:t>
            </a:r>
            <a:r>
              <a:rPr sz="2700" spc="-140" dirty="0">
                <a:latin typeface="Calibri"/>
                <a:cs typeface="Calibri"/>
              </a:rPr>
              <a:t>transforms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existing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fiber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25" dirty="0">
                <a:latin typeface="Calibri"/>
                <a:cs typeface="Calibri"/>
              </a:rPr>
              <a:t>optic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70" dirty="0">
                <a:latin typeface="Calibri"/>
                <a:cs typeface="Calibri"/>
              </a:rPr>
              <a:t>cables </a:t>
            </a:r>
            <a:r>
              <a:rPr sz="2550" spc="-85" dirty="0">
                <a:solidFill>
                  <a:srgbClr val="111111"/>
                </a:solidFill>
                <a:latin typeface="Calibri"/>
                <a:cs typeface="Calibri"/>
              </a:rPr>
              <a:t>into</a:t>
            </a:r>
            <a:r>
              <a:rPr sz="2550" spc="-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2550" spc="-1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50" spc="-45" dirty="0">
                <a:latin typeface="Calibri"/>
                <a:cs typeface="Calibri"/>
              </a:rPr>
              <a:t>dense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spc="-110" dirty="0">
                <a:solidFill>
                  <a:srgbClr val="0A0A0A"/>
                </a:solidFill>
                <a:latin typeface="Calibri"/>
                <a:cs typeface="Calibri"/>
              </a:rPr>
              <a:t>network</a:t>
            </a:r>
            <a:r>
              <a:rPr sz="2550" spc="-3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550" spc="-65" dirty="0">
                <a:solidFill>
                  <a:srgbClr val="131313"/>
                </a:solidFill>
                <a:latin typeface="Calibri"/>
                <a:cs typeface="Calibri"/>
              </a:rPr>
              <a:t>of</a:t>
            </a:r>
            <a:r>
              <a:rPr sz="2550" spc="-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sensors.</a:t>
            </a:r>
            <a:endParaRPr sz="2550">
              <a:latin typeface="Calibri"/>
              <a:cs typeface="Calibri"/>
            </a:endParaRPr>
          </a:p>
          <a:p>
            <a:pPr marL="260985" marR="381635" indent="-245745">
              <a:lnSpc>
                <a:spcPts val="2600"/>
              </a:lnSpc>
              <a:spcBef>
                <a:spcPts val="1600"/>
              </a:spcBef>
              <a:buClr>
                <a:srgbClr val="2F2F2F"/>
              </a:buClr>
              <a:buChar char="•"/>
              <a:tabLst>
                <a:tab pos="267335" algn="l"/>
              </a:tabLst>
            </a:pPr>
            <a:r>
              <a:rPr sz="2350" dirty="0">
                <a:solidFill>
                  <a:srgbClr val="0E0E0E"/>
                </a:solidFill>
                <a:latin typeface="Calibri"/>
                <a:cs typeface="Calibri"/>
              </a:rPr>
              <a:t>It</a:t>
            </a:r>
            <a:r>
              <a:rPr sz="2350" spc="4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continuously</a:t>
            </a:r>
            <a:r>
              <a:rPr sz="2350" spc="2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measures</a:t>
            </a:r>
            <a:r>
              <a:rPr sz="2350" spc="18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acoustic 	</a:t>
            </a:r>
            <a:r>
              <a:rPr sz="2350" dirty="0">
                <a:solidFill>
                  <a:srgbClr val="0C0C0C"/>
                </a:solidFill>
                <a:latin typeface="Calibri"/>
                <a:cs typeface="Calibri"/>
              </a:rPr>
              <a:t>vibrations</a:t>
            </a:r>
            <a:r>
              <a:rPr sz="2350" spc="1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E0E0E"/>
                </a:solidFill>
                <a:latin typeface="Calibri"/>
                <a:cs typeface="Calibri"/>
              </a:rPr>
              <a:t>along</a:t>
            </a:r>
            <a:r>
              <a:rPr sz="2350" spc="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2350" spc="-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entire</a:t>
            </a:r>
            <a:r>
              <a:rPr sz="2350" spc="110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31313"/>
                </a:solidFill>
                <a:latin typeface="Calibri"/>
                <a:cs typeface="Calibri"/>
              </a:rPr>
              <a:t>length</a:t>
            </a:r>
            <a:r>
              <a:rPr sz="2350" spc="8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of 	</a:t>
            </a:r>
            <a:r>
              <a:rPr sz="235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235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0C0C0C"/>
                </a:solidFill>
                <a:latin typeface="Calibri"/>
                <a:cs typeface="Calibri"/>
              </a:rPr>
              <a:t>cable.</a:t>
            </a:r>
            <a:endParaRPr sz="2350">
              <a:latin typeface="Calibri"/>
              <a:cs typeface="Calibri"/>
            </a:endParaRPr>
          </a:p>
          <a:p>
            <a:pPr marL="262255" marR="5080" indent="-245745">
              <a:lnSpc>
                <a:spcPct val="91600"/>
              </a:lnSpc>
              <a:spcBef>
                <a:spcPts val="1614"/>
              </a:spcBef>
              <a:buChar char="•"/>
              <a:tabLst>
                <a:tab pos="262255" algn="l"/>
                <a:tab pos="271145" algn="l"/>
              </a:tabLst>
            </a:pPr>
            <a:r>
              <a:rPr sz="2300" dirty="0">
                <a:solidFill>
                  <a:srgbClr val="313131"/>
                </a:solidFill>
                <a:latin typeface="Calibri"/>
                <a:cs typeface="Calibri"/>
              </a:rPr>
              <a:t>	</a:t>
            </a:r>
            <a:r>
              <a:rPr sz="2300" spc="60" dirty="0">
                <a:latin typeface="Calibri"/>
                <a:cs typeface="Calibri"/>
              </a:rPr>
              <a:t>This</a:t>
            </a:r>
            <a:r>
              <a:rPr sz="2300" spc="2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provides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non-</a:t>
            </a:r>
            <a:r>
              <a:rPr sz="2300" spc="-10" dirty="0">
                <a:latin typeface="Calibri"/>
                <a:cs typeface="Calibri"/>
              </a:rPr>
              <a:t>cooperative </a:t>
            </a:r>
            <a:r>
              <a:rPr sz="2400" spc="-10" dirty="0">
                <a:latin typeface="Calibri"/>
                <a:cs typeface="Calibri"/>
              </a:rPr>
              <a:t>monitoring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solution—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detects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vessels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i="1" spc="-160" dirty="0">
                <a:solidFill>
                  <a:srgbClr val="0C0C0C"/>
                </a:solidFill>
                <a:latin typeface="Calibri"/>
                <a:cs typeface="Calibri"/>
              </a:rPr>
              <a:t>On</a:t>
            </a:r>
            <a:r>
              <a:rPr sz="2400" i="1" spc="204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they </a:t>
            </a:r>
            <a:r>
              <a:rPr sz="2400" spc="-25" dirty="0">
                <a:solidFill>
                  <a:srgbClr val="0A0A0A"/>
                </a:solidFill>
                <a:latin typeface="Calibri"/>
                <a:cs typeface="Calibri"/>
              </a:rPr>
              <a:t>generate,</a:t>
            </a:r>
            <a:r>
              <a:rPr sz="2400" spc="18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signals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 </a:t>
            </a:r>
            <a:r>
              <a:rPr sz="2400" spc="-10" dirty="0">
                <a:latin typeface="Calibri"/>
                <a:cs typeface="Calibri"/>
              </a:rPr>
              <a:t>transmit.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2568" y="500027"/>
            <a:ext cx="5847080" cy="2342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8415" marR="5080" indent="-6350">
              <a:lnSpc>
                <a:spcPts val="5900"/>
              </a:lnSpc>
              <a:spcBef>
                <a:spcPts val="725"/>
              </a:spcBef>
            </a:pPr>
            <a:r>
              <a:rPr sz="5350" spc="-114" dirty="0">
                <a:solidFill>
                  <a:srgbClr val="030C3D"/>
                </a:solidFill>
              </a:rPr>
              <a:t>Raw</a:t>
            </a:r>
            <a:r>
              <a:rPr sz="5350" spc="-215" dirty="0">
                <a:solidFill>
                  <a:srgbClr val="030C3D"/>
                </a:solidFill>
              </a:rPr>
              <a:t> </a:t>
            </a:r>
            <a:r>
              <a:rPr sz="5350" spc="-409" dirty="0">
                <a:solidFill>
                  <a:srgbClr val="000C3B"/>
                </a:solidFill>
              </a:rPr>
              <a:t>DAS</a:t>
            </a:r>
            <a:r>
              <a:rPr sz="5350" spc="-60" dirty="0">
                <a:solidFill>
                  <a:srgbClr val="000C3B"/>
                </a:solidFill>
              </a:rPr>
              <a:t> </a:t>
            </a:r>
            <a:r>
              <a:rPr sz="5350" spc="-95" dirty="0">
                <a:solidFill>
                  <a:srgbClr val="031146"/>
                </a:solidFill>
              </a:rPr>
              <a:t>Data</a:t>
            </a:r>
            <a:r>
              <a:rPr sz="5350" spc="-305" dirty="0">
                <a:solidFill>
                  <a:srgbClr val="031146"/>
                </a:solidFill>
              </a:rPr>
              <a:t> </a:t>
            </a:r>
            <a:r>
              <a:rPr sz="5350" spc="90" dirty="0">
                <a:solidFill>
                  <a:srgbClr val="030F42"/>
                </a:solidFill>
              </a:rPr>
              <a:t>is </a:t>
            </a:r>
            <a:r>
              <a:rPr sz="5450" spc="-90" dirty="0">
                <a:solidFill>
                  <a:srgbClr val="010F3B"/>
                </a:solidFill>
              </a:rPr>
              <a:t>Complex</a:t>
            </a:r>
            <a:r>
              <a:rPr sz="5450" spc="-240" dirty="0">
                <a:solidFill>
                  <a:srgbClr val="010F3B"/>
                </a:solidFill>
              </a:rPr>
              <a:t> </a:t>
            </a:r>
            <a:r>
              <a:rPr sz="5450" spc="-40" dirty="0">
                <a:solidFill>
                  <a:srgbClr val="030C3F"/>
                </a:solidFill>
              </a:rPr>
              <a:t>and</a:t>
            </a:r>
            <a:r>
              <a:rPr sz="5450" spc="-430" dirty="0">
                <a:solidFill>
                  <a:srgbClr val="030C3F"/>
                </a:solidFill>
              </a:rPr>
              <a:t> </a:t>
            </a:r>
            <a:r>
              <a:rPr sz="5450" spc="-10" dirty="0">
                <a:solidFill>
                  <a:srgbClr val="030F3B"/>
                </a:solidFill>
              </a:rPr>
              <a:t>Filled </a:t>
            </a:r>
            <a:r>
              <a:rPr sz="5450" spc="190" dirty="0">
                <a:solidFill>
                  <a:srgbClr val="051149"/>
                </a:solidFill>
              </a:rPr>
              <a:t>with</a:t>
            </a:r>
            <a:r>
              <a:rPr sz="5450" spc="-250" dirty="0">
                <a:solidFill>
                  <a:srgbClr val="051149"/>
                </a:solidFill>
              </a:rPr>
              <a:t> </a:t>
            </a:r>
            <a:r>
              <a:rPr sz="5450" spc="-10" dirty="0">
                <a:solidFill>
                  <a:srgbClr val="010E42"/>
                </a:solidFill>
              </a:rPr>
              <a:t>Noise</a:t>
            </a:r>
            <a:endParaRPr sz="5450" dirty="0"/>
          </a:p>
        </p:txBody>
      </p:sp>
      <p:sp>
        <p:nvSpPr>
          <p:cNvPr id="4" name="object 4"/>
          <p:cNvSpPr txBox="1"/>
          <p:nvPr/>
        </p:nvSpPr>
        <p:spPr>
          <a:xfrm>
            <a:off x="582552" y="3186394"/>
            <a:ext cx="4802248" cy="42930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2425" marR="198120" indent="-337820">
              <a:lnSpc>
                <a:spcPct val="95900"/>
              </a:lnSpc>
              <a:spcBef>
                <a:spcPts val="280"/>
              </a:spcBef>
              <a:buClr>
                <a:srgbClr val="494949"/>
              </a:buClr>
              <a:buChar char="•"/>
              <a:tabLst>
                <a:tab pos="360680" algn="l"/>
                <a:tab pos="2696845" algn="l"/>
              </a:tabLst>
            </a:pPr>
            <a:r>
              <a:rPr sz="2950" dirty="0">
                <a:latin typeface="Calibri"/>
                <a:cs typeface="Calibri"/>
              </a:rPr>
              <a:t>The</a:t>
            </a:r>
            <a:r>
              <a:rPr sz="2950" spc="-15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system</a:t>
            </a:r>
            <a:r>
              <a:rPr sz="2950" spc="24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captures</a:t>
            </a:r>
            <a:r>
              <a:rPr sz="2950" spc="26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1-</a:t>
            </a:r>
            <a:r>
              <a:rPr sz="2950" spc="-10" dirty="0">
                <a:latin typeface="Calibri"/>
                <a:cs typeface="Calibri"/>
              </a:rPr>
              <a:t>dimensional 	</a:t>
            </a:r>
            <a:r>
              <a:rPr sz="3050" spc="-40" dirty="0">
                <a:latin typeface="Calibri"/>
                <a:cs typeface="Calibri"/>
              </a:rPr>
              <a:t>time-</a:t>
            </a:r>
            <a:r>
              <a:rPr sz="3050" dirty="0">
                <a:latin typeface="Calibri"/>
                <a:cs typeface="Calibri"/>
              </a:rPr>
              <a:t>series</a:t>
            </a:r>
            <a:r>
              <a:rPr sz="3050" spc="6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signals</a:t>
            </a:r>
            <a:r>
              <a:rPr sz="3050" spc="2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at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spc="100" dirty="0">
                <a:latin typeface="Calibri"/>
                <a:cs typeface="Calibri"/>
              </a:rPr>
              <a:t>a</a:t>
            </a:r>
            <a:r>
              <a:rPr sz="3050" spc="-25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high 	</a:t>
            </a:r>
            <a:r>
              <a:rPr sz="3100" spc="-80" dirty="0">
                <a:latin typeface="Calibri"/>
                <a:cs typeface="Calibri"/>
              </a:rPr>
              <a:t>frequency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70" dirty="0">
                <a:latin typeface="Calibri"/>
                <a:cs typeface="Calibri"/>
              </a:rPr>
              <a:t>(</a:t>
            </a:r>
            <a:r>
              <a:rPr sz="3100" spc="-10" dirty="0">
                <a:latin typeface="Calibri"/>
                <a:cs typeface="Calibri"/>
              </a:rPr>
              <a:t>625Hz).</a:t>
            </a:r>
            <a:endParaRPr sz="3100" dirty="0">
              <a:latin typeface="Calibri"/>
              <a:cs typeface="Calibri"/>
            </a:endParaRPr>
          </a:p>
          <a:p>
            <a:pPr marL="349250" marR="5080" indent="-337185">
              <a:lnSpc>
                <a:spcPts val="3400"/>
              </a:lnSpc>
              <a:spcBef>
                <a:spcPts val="1110"/>
              </a:spcBef>
              <a:buChar char="•"/>
              <a:tabLst>
                <a:tab pos="349250" algn="l"/>
                <a:tab pos="352425" algn="l"/>
              </a:tabLst>
            </a:pPr>
            <a:r>
              <a:rPr sz="3200" dirty="0">
                <a:solidFill>
                  <a:srgbClr val="414141"/>
                </a:solidFill>
                <a:latin typeface="Calibri"/>
                <a:cs typeface="Calibri"/>
              </a:rPr>
              <a:t>	</a:t>
            </a:r>
            <a:r>
              <a:rPr sz="3200" spc="-110" dirty="0">
                <a:latin typeface="Calibri"/>
                <a:cs typeface="Calibri"/>
              </a:rPr>
              <a:t>The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75" dirty="0">
                <a:latin typeface="Calibri"/>
                <a:cs typeface="Calibri"/>
              </a:rPr>
              <a:t>data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-135" dirty="0">
                <a:latin typeface="Calibri"/>
                <a:cs typeface="Calibri"/>
              </a:rPr>
              <a:t>contaminated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185" dirty="0">
                <a:latin typeface="Calibri"/>
                <a:cs typeface="Calibri"/>
              </a:rPr>
              <a:t>by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static </a:t>
            </a:r>
            <a:r>
              <a:rPr sz="3300" spc="-145" dirty="0">
                <a:latin typeface="Calibri"/>
                <a:cs typeface="Calibri"/>
              </a:rPr>
              <a:t>noise</a:t>
            </a:r>
            <a:r>
              <a:rPr sz="3300" spc="-25" dirty="0">
                <a:latin typeface="Calibri"/>
                <a:cs typeface="Calibri"/>
              </a:rPr>
              <a:t> </a:t>
            </a:r>
            <a:endParaRPr lang="en-US" sz="3300" spc="-25" dirty="0">
              <a:latin typeface="Calibri"/>
              <a:cs typeface="Calibri"/>
            </a:endParaRPr>
          </a:p>
          <a:p>
            <a:pPr marL="349250" marR="5080" indent="-337185">
              <a:lnSpc>
                <a:spcPts val="3400"/>
              </a:lnSpc>
              <a:spcBef>
                <a:spcPts val="1110"/>
              </a:spcBef>
              <a:buChar char="•"/>
              <a:tabLst>
                <a:tab pos="349250" algn="l"/>
                <a:tab pos="352425" algn="l"/>
              </a:tabLst>
            </a:pPr>
            <a:r>
              <a:rPr sz="3200" spc="-170" dirty="0">
                <a:latin typeface="Calibri"/>
                <a:cs typeface="Calibri"/>
              </a:rPr>
              <a:t>Our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30" dirty="0">
                <a:latin typeface="Calibri"/>
                <a:cs typeface="Calibri"/>
              </a:rPr>
              <a:t>goal: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Isolate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180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5" dirty="0">
                <a:latin typeface="Calibri"/>
                <a:cs typeface="Calibri"/>
              </a:rPr>
              <a:t>faint,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diagonal 	</a:t>
            </a:r>
            <a:r>
              <a:rPr sz="3200" spc="-135" dirty="0">
                <a:latin typeface="Calibri"/>
                <a:cs typeface="Calibri"/>
              </a:rPr>
              <a:t>energy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burst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that</a:t>
            </a:r>
            <a:r>
              <a:rPr sz="3200" spc="-70" dirty="0">
                <a:latin typeface="Calibri"/>
                <a:cs typeface="Calibri"/>
              </a:rPr>
              <a:t> signifies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114" dirty="0">
                <a:latin typeface="Calibri"/>
                <a:cs typeface="Calibri"/>
              </a:rPr>
              <a:t>moving 	</a:t>
            </a:r>
            <a:r>
              <a:rPr sz="3200" spc="-10" dirty="0">
                <a:latin typeface="Calibri"/>
                <a:cs typeface="Calibri"/>
              </a:rPr>
              <a:t>vessel.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23" name="Picture 22" descr="A blue and yellow striped background&#10;&#10;AI-generated content may be incorrect.">
            <a:extLst>
              <a:ext uri="{FF2B5EF4-FFF2-40B4-BE49-F238E27FC236}">
                <a16:creationId xmlns:a16="http://schemas.microsoft.com/office/drawing/2014/main" id="{9B349C39-54B1-25CC-502A-1F8319B8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2567146"/>
            <a:ext cx="11352893" cy="5967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" y="6146800"/>
            <a:ext cx="2438400" cy="252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8800" y="6146800"/>
            <a:ext cx="2438400" cy="2527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2500" y="673100"/>
            <a:ext cx="1066800" cy="508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55449" y="441324"/>
            <a:ext cx="12904775" cy="1672893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734695" marR="5080" indent="-722630">
              <a:lnSpc>
                <a:spcPts val="6100"/>
              </a:lnSpc>
              <a:spcBef>
                <a:spcPts val="844"/>
              </a:spcBef>
            </a:pPr>
            <a:r>
              <a:rPr sz="5600" b="1" spc="-105" dirty="0">
                <a:solidFill>
                  <a:srgbClr val="03132D"/>
                </a:solidFill>
              </a:rPr>
              <a:t>Approach:</a:t>
            </a:r>
            <a:r>
              <a:rPr sz="5600" b="1" spc="-155" dirty="0">
                <a:solidFill>
                  <a:srgbClr val="03132D"/>
                </a:solidFill>
              </a:rPr>
              <a:t> </a:t>
            </a:r>
            <a:r>
              <a:rPr sz="5600" b="1" spc="-130" dirty="0">
                <a:solidFill>
                  <a:srgbClr val="03132D"/>
                </a:solidFill>
              </a:rPr>
              <a:t>Framing</a:t>
            </a:r>
            <a:r>
              <a:rPr sz="5600" b="1" spc="-290" dirty="0">
                <a:solidFill>
                  <a:srgbClr val="03132D"/>
                </a:solidFill>
              </a:rPr>
              <a:t> </a:t>
            </a:r>
            <a:r>
              <a:rPr sz="5600" b="1" spc="-105" dirty="0">
                <a:solidFill>
                  <a:srgbClr val="01112B"/>
                </a:solidFill>
              </a:rPr>
              <a:t>Anomaly</a:t>
            </a:r>
            <a:r>
              <a:rPr sz="5600" b="1" spc="-254" dirty="0">
                <a:solidFill>
                  <a:srgbClr val="01112B"/>
                </a:solidFill>
              </a:rPr>
              <a:t> </a:t>
            </a:r>
            <a:r>
              <a:rPr sz="5600" b="1" spc="-40" dirty="0">
                <a:solidFill>
                  <a:srgbClr val="031838"/>
                </a:solidFill>
              </a:rPr>
              <a:t>Detection </a:t>
            </a:r>
            <a:r>
              <a:rPr sz="5600" b="1" spc="-245" dirty="0">
                <a:solidFill>
                  <a:srgbClr val="051631"/>
                </a:solidFill>
              </a:rPr>
              <a:t>as</a:t>
            </a:r>
            <a:r>
              <a:rPr sz="5600" b="1" spc="-325" dirty="0">
                <a:solidFill>
                  <a:srgbClr val="051631"/>
                </a:solidFill>
              </a:rPr>
              <a:t> </a:t>
            </a:r>
            <a:r>
              <a:rPr sz="5600" b="1" spc="-105" dirty="0">
                <a:solidFill>
                  <a:srgbClr val="05132D"/>
                </a:solidFill>
              </a:rPr>
              <a:t>an</a:t>
            </a:r>
            <a:r>
              <a:rPr sz="5600" b="1" spc="-650" dirty="0">
                <a:solidFill>
                  <a:srgbClr val="05132D"/>
                </a:solidFill>
              </a:rPr>
              <a:t> </a:t>
            </a:r>
            <a:r>
              <a:rPr sz="5600" b="1" dirty="0">
                <a:solidFill>
                  <a:srgbClr val="03132D"/>
                </a:solidFill>
              </a:rPr>
              <a:t>Image</a:t>
            </a:r>
            <a:r>
              <a:rPr sz="5600" b="1" spc="-390" dirty="0">
                <a:solidFill>
                  <a:srgbClr val="03132D"/>
                </a:solidFill>
              </a:rPr>
              <a:t> </a:t>
            </a:r>
            <a:r>
              <a:rPr sz="5600" b="1" spc="-110" dirty="0">
                <a:solidFill>
                  <a:srgbClr val="051633"/>
                </a:solidFill>
              </a:rPr>
              <a:t>Recognition</a:t>
            </a:r>
            <a:r>
              <a:rPr sz="5600" b="1" spc="-80" dirty="0">
                <a:solidFill>
                  <a:srgbClr val="051633"/>
                </a:solidFill>
              </a:rPr>
              <a:t> </a:t>
            </a:r>
            <a:r>
              <a:rPr sz="5600" b="1" spc="-355" dirty="0">
                <a:solidFill>
                  <a:srgbClr val="05152B"/>
                </a:solidFill>
              </a:rPr>
              <a:t>Task</a:t>
            </a:r>
            <a:endParaRPr sz="5600" b="1" dirty="0"/>
          </a:p>
        </p:txBody>
      </p:sp>
      <p:sp>
        <p:nvSpPr>
          <p:cNvPr id="8" name="object 8"/>
          <p:cNvSpPr txBox="1"/>
          <p:nvPr/>
        </p:nvSpPr>
        <p:spPr>
          <a:xfrm>
            <a:off x="1114976" y="2648986"/>
            <a:ext cx="15038705" cy="197612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58140" indent="-344805">
              <a:lnSpc>
                <a:spcPct val="100000"/>
              </a:lnSpc>
              <a:spcBef>
                <a:spcPts val="1190"/>
              </a:spcBef>
              <a:buClr>
                <a:srgbClr val="565656"/>
              </a:buClr>
              <a:buChar char="•"/>
              <a:tabLst>
                <a:tab pos="358140" algn="l"/>
              </a:tabLst>
            </a:pPr>
            <a:r>
              <a:rPr sz="3300" spc="-440" dirty="0">
                <a:solidFill>
                  <a:srgbClr val="1D1D1D"/>
                </a:solidFill>
                <a:latin typeface="Calibri"/>
                <a:cs typeface="Calibri"/>
              </a:rPr>
              <a:t>We</a:t>
            </a:r>
            <a:r>
              <a:rPr sz="3300" spc="-4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300" spc="-190" dirty="0">
                <a:solidFill>
                  <a:srgbClr val="111111"/>
                </a:solidFill>
                <a:latin typeface="Calibri"/>
                <a:cs typeface="Calibri"/>
              </a:rPr>
              <a:t>converted</a:t>
            </a:r>
            <a:r>
              <a:rPr sz="33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300" spc="-130" dirty="0">
                <a:solidFill>
                  <a:srgbClr val="151515"/>
                </a:solidFill>
                <a:latin typeface="Calibri"/>
                <a:cs typeface="Calibri"/>
              </a:rPr>
              <a:t>30-</a:t>
            </a:r>
            <a:r>
              <a:rPr sz="3300" spc="-80" dirty="0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sz="3300" spc="-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300" spc="-225" dirty="0">
                <a:solidFill>
                  <a:srgbClr val="151515"/>
                </a:solidFill>
                <a:latin typeface="Calibri"/>
                <a:cs typeface="Calibri"/>
              </a:rPr>
              <a:t>windows</a:t>
            </a:r>
            <a:r>
              <a:rPr sz="3300" spc="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300" spc="-229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3300" spc="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300" spc="-260" dirty="0">
                <a:solidFill>
                  <a:srgbClr val="131313"/>
                </a:solidFill>
                <a:latin typeface="Calibri"/>
                <a:cs typeface="Calibri"/>
              </a:rPr>
              <a:t>raw</a:t>
            </a:r>
            <a:r>
              <a:rPr sz="3300" spc="-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135" dirty="0">
                <a:solidFill>
                  <a:srgbClr val="161616"/>
                </a:solidFill>
                <a:latin typeface="Calibri"/>
                <a:cs typeface="Calibri"/>
              </a:rPr>
              <a:t>data</a:t>
            </a:r>
            <a:r>
              <a:rPr sz="3300" spc="-6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300" spc="-200" dirty="0">
                <a:solidFill>
                  <a:srgbClr val="131313"/>
                </a:solidFill>
                <a:latin typeface="Calibri"/>
                <a:cs typeface="Calibri"/>
              </a:rPr>
              <a:t>into</a:t>
            </a:r>
            <a:r>
              <a:rPr sz="3300" spc="-5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170" dirty="0">
                <a:solidFill>
                  <a:srgbClr val="181818"/>
                </a:solidFill>
                <a:latin typeface="Calibri"/>
                <a:cs typeface="Calibri"/>
              </a:rPr>
              <a:t>2D</a:t>
            </a:r>
            <a:r>
              <a:rPr sz="330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300" spc="-155" dirty="0">
                <a:solidFill>
                  <a:srgbClr val="131313"/>
                </a:solidFill>
                <a:latin typeface="Calibri"/>
                <a:cs typeface="Calibri"/>
              </a:rPr>
              <a:t>time-</a:t>
            </a:r>
            <a:r>
              <a:rPr sz="3300" spc="-130" dirty="0">
                <a:solidFill>
                  <a:srgbClr val="131313"/>
                </a:solidFill>
                <a:latin typeface="Calibri"/>
                <a:cs typeface="Calibri"/>
              </a:rPr>
              <a:t>distance</a:t>
            </a:r>
            <a:r>
              <a:rPr sz="3300" spc="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150" dirty="0">
                <a:solidFill>
                  <a:srgbClr val="0F0F0F"/>
                </a:solidFill>
                <a:latin typeface="Calibri"/>
                <a:cs typeface="Calibri"/>
              </a:rPr>
              <a:t>images</a:t>
            </a:r>
            <a:r>
              <a:rPr sz="3300" spc="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0E0E0E"/>
                </a:solidFill>
                <a:latin typeface="Calibri"/>
                <a:cs typeface="Calibri"/>
              </a:rPr>
              <a:t>(spectrograms).</a:t>
            </a:r>
            <a:endParaRPr sz="3300" dirty="0">
              <a:latin typeface="Calibri"/>
              <a:cs typeface="Calibri"/>
            </a:endParaRPr>
          </a:p>
          <a:p>
            <a:pPr marL="346075" indent="-333375">
              <a:lnSpc>
                <a:spcPct val="100000"/>
              </a:lnSpc>
              <a:spcBef>
                <a:spcPts val="1090"/>
              </a:spcBef>
              <a:buClr>
                <a:srgbClr val="575757"/>
              </a:buClr>
              <a:buChar char="•"/>
              <a:tabLst>
                <a:tab pos="346075" algn="l"/>
                <a:tab pos="13038455" algn="l"/>
                <a:tab pos="14905355" algn="l"/>
              </a:tabLst>
            </a:pPr>
            <a:r>
              <a:rPr sz="3400" spc="-195" dirty="0">
                <a:solidFill>
                  <a:srgbClr val="111111"/>
                </a:solidFill>
                <a:latin typeface="Calibri"/>
                <a:cs typeface="Calibri"/>
              </a:rPr>
              <a:t>Using</a:t>
            </a:r>
            <a:r>
              <a:rPr sz="34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400" spc="-150" dirty="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sz="3400" spc="-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400" spc="-140" dirty="0">
                <a:solidFill>
                  <a:srgbClr val="131313"/>
                </a:solidFill>
                <a:latin typeface="Calibri"/>
                <a:cs typeface="Calibri"/>
              </a:rPr>
              <a:t>visual</a:t>
            </a:r>
            <a:r>
              <a:rPr sz="3400" spc="-229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400" spc="-190" dirty="0">
                <a:solidFill>
                  <a:srgbClr val="131313"/>
                </a:solidFill>
                <a:latin typeface="Calibri"/>
                <a:cs typeface="Calibri"/>
              </a:rPr>
              <a:t>data,</a:t>
            </a:r>
            <a:r>
              <a:rPr sz="340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400" spc="-295" dirty="0">
                <a:solidFill>
                  <a:srgbClr val="1C1C1C"/>
                </a:solidFill>
                <a:latin typeface="Calibri"/>
                <a:cs typeface="Calibri"/>
              </a:rPr>
              <a:t>we</a:t>
            </a:r>
            <a:r>
              <a:rPr sz="3400" spc="-8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400" spc="-210" dirty="0">
                <a:solidFill>
                  <a:srgbClr val="131313"/>
                </a:solidFill>
                <a:latin typeface="Calibri"/>
                <a:cs typeface="Calibri"/>
              </a:rPr>
              <a:t>manually</a:t>
            </a:r>
            <a:r>
              <a:rPr sz="3400" spc="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400" spc="-180" dirty="0">
                <a:solidFill>
                  <a:srgbClr val="131313"/>
                </a:solidFill>
                <a:latin typeface="Calibri"/>
                <a:cs typeface="Calibri"/>
              </a:rPr>
              <a:t>labeled</a:t>
            </a:r>
            <a:r>
              <a:rPr sz="3400" spc="-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400" spc="65" dirty="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3400" spc="-3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400" spc="-185" dirty="0">
                <a:solidFill>
                  <a:srgbClr val="161616"/>
                </a:solidFill>
                <a:latin typeface="Calibri"/>
                <a:cs typeface="Calibri"/>
              </a:rPr>
              <a:t>dataset</a:t>
            </a:r>
            <a:r>
              <a:rPr sz="3400" spc="-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400" spc="-229" dirty="0">
                <a:solidFill>
                  <a:srgbClr val="161616"/>
                </a:solidFill>
                <a:latin typeface="Calibri"/>
                <a:cs typeface="Calibri"/>
              </a:rPr>
              <a:t>into</a:t>
            </a:r>
            <a:r>
              <a:rPr sz="34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400" spc="-310" dirty="0">
                <a:solidFill>
                  <a:srgbClr val="181818"/>
                </a:solidFill>
                <a:latin typeface="Calibri"/>
                <a:cs typeface="Calibri"/>
              </a:rPr>
              <a:t>two</a:t>
            </a:r>
            <a:r>
              <a:rPr sz="3400" spc="-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400" spc="-70" dirty="0">
                <a:solidFill>
                  <a:srgbClr val="161616"/>
                </a:solidFill>
                <a:latin typeface="Calibri"/>
                <a:cs typeface="Calibri"/>
              </a:rPr>
              <a:t>classes:</a:t>
            </a:r>
            <a:r>
              <a:rPr sz="3400" spc="1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131313"/>
                </a:solidFill>
                <a:latin typeface="Calibri"/>
                <a:cs typeface="Calibri"/>
              </a:rPr>
              <a:t>'Anomaly‘</a:t>
            </a:r>
            <a:r>
              <a:rPr sz="3400" dirty="0">
                <a:solidFill>
                  <a:srgbClr val="131313"/>
                </a:solidFill>
                <a:latin typeface="Calibri"/>
                <a:cs typeface="Calibri"/>
              </a:rPr>
              <a:t>	</a:t>
            </a:r>
            <a:r>
              <a:rPr sz="3400" spc="-195" dirty="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sz="3400" spc="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0E0E0E"/>
                </a:solidFill>
                <a:latin typeface="Calibri"/>
                <a:cs typeface="Calibri"/>
              </a:rPr>
              <a:t>'Noise</a:t>
            </a:r>
            <a:r>
              <a:rPr lang="en-US" sz="3400" spc="-10" dirty="0">
                <a:solidFill>
                  <a:srgbClr val="0E0E0E"/>
                </a:solidFill>
                <a:latin typeface="Calibri"/>
                <a:cs typeface="Calibri"/>
              </a:rPr>
              <a:t>'</a:t>
            </a:r>
            <a:r>
              <a:rPr sz="3400" dirty="0">
                <a:solidFill>
                  <a:srgbClr val="0E0E0E"/>
                </a:solidFill>
                <a:latin typeface="Calibri"/>
                <a:cs typeface="Calibri"/>
              </a:rPr>
              <a:t>	</a:t>
            </a:r>
            <a:r>
              <a:rPr sz="3400" spc="25" dirty="0">
                <a:solidFill>
                  <a:srgbClr val="1A1A1A"/>
                </a:solidFill>
                <a:latin typeface="Calibri"/>
                <a:cs typeface="Calibri"/>
              </a:rPr>
              <a:t>.</a:t>
            </a:r>
            <a:endParaRPr sz="3400" dirty="0">
              <a:latin typeface="Calibri"/>
              <a:cs typeface="Calibri"/>
            </a:endParaRPr>
          </a:p>
          <a:p>
            <a:pPr marL="358140" indent="-344805">
              <a:lnSpc>
                <a:spcPct val="100000"/>
              </a:lnSpc>
              <a:spcBef>
                <a:spcPts val="1170"/>
              </a:spcBef>
              <a:buClr>
                <a:srgbClr val="595959"/>
              </a:buClr>
              <a:buChar char="•"/>
              <a:tabLst>
                <a:tab pos="358140" algn="l"/>
                <a:tab pos="5377180" algn="l"/>
              </a:tabLst>
            </a:pPr>
            <a:r>
              <a:rPr sz="3300" spc="-395" dirty="0">
                <a:solidFill>
                  <a:srgbClr val="1C1C1C"/>
                </a:solidFill>
                <a:latin typeface="Calibri"/>
                <a:cs typeface="Calibri"/>
              </a:rPr>
              <a:t>We</a:t>
            </a:r>
            <a:r>
              <a:rPr sz="33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300" spc="-245" dirty="0">
                <a:solidFill>
                  <a:srgbClr val="181818"/>
                </a:solidFill>
                <a:latin typeface="Calibri"/>
                <a:cs typeface="Calibri"/>
              </a:rPr>
              <a:t>then</a:t>
            </a:r>
            <a:r>
              <a:rPr sz="3300" spc="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300" spc="-180" dirty="0">
                <a:solidFill>
                  <a:srgbClr val="131313"/>
                </a:solidFill>
                <a:latin typeface="Calibri"/>
                <a:cs typeface="Calibri"/>
              </a:rPr>
              <a:t>trained</a:t>
            </a:r>
            <a:r>
              <a:rPr sz="3300" spc="-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110" dirty="0">
                <a:solidFill>
                  <a:srgbClr val="1C1C1C"/>
                </a:solidFill>
                <a:latin typeface="Calibri"/>
                <a:cs typeface="Calibri"/>
              </a:rPr>
              <a:t>a</a:t>
            </a:r>
            <a:r>
              <a:rPr sz="3300" spc="-229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300" spc="-110" dirty="0">
                <a:solidFill>
                  <a:srgbClr val="0F0F0F"/>
                </a:solidFill>
                <a:latin typeface="Calibri"/>
                <a:cs typeface="Calibri"/>
              </a:rPr>
              <a:t>Convolutiona</a:t>
            </a:r>
            <a:r>
              <a:rPr lang="en-US" sz="3300" spc="-110" dirty="0">
                <a:solidFill>
                  <a:srgbClr val="0F0F0F"/>
                </a:solidFill>
                <a:latin typeface="Calibri"/>
                <a:cs typeface="Calibri"/>
              </a:rPr>
              <a:t>l </a:t>
            </a:r>
            <a:r>
              <a:rPr sz="3300" spc="-175" dirty="0">
                <a:solidFill>
                  <a:srgbClr val="1A1A1A"/>
                </a:solidFill>
                <a:latin typeface="Calibri"/>
                <a:cs typeface="Calibri"/>
              </a:rPr>
              <a:t>Neural</a:t>
            </a:r>
            <a:r>
              <a:rPr sz="33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300" spc="-225" dirty="0">
                <a:solidFill>
                  <a:srgbClr val="131313"/>
                </a:solidFill>
                <a:latin typeface="Calibri"/>
                <a:cs typeface="Calibri"/>
              </a:rPr>
              <a:t>Network</a:t>
            </a:r>
            <a:r>
              <a:rPr sz="3300" spc="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155" dirty="0">
                <a:solidFill>
                  <a:srgbClr val="131313"/>
                </a:solidFill>
                <a:latin typeface="Calibri"/>
                <a:cs typeface="Calibri"/>
              </a:rPr>
              <a:t>(CNN)</a:t>
            </a:r>
            <a:r>
              <a:rPr sz="3300" spc="-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300" spc="-275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3300" spc="-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300" spc="-155" dirty="0">
                <a:solidFill>
                  <a:srgbClr val="161616"/>
                </a:solidFill>
                <a:latin typeface="Calibri"/>
                <a:cs typeface="Calibri"/>
              </a:rPr>
              <a:t>automatically</a:t>
            </a:r>
            <a:r>
              <a:rPr sz="3300" spc="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300" spc="-65" dirty="0">
                <a:solidFill>
                  <a:srgbClr val="1A1A1A"/>
                </a:solidFill>
                <a:latin typeface="Calibri"/>
                <a:cs typeface="Calibri"/>
              </a:rPr>
              <a:t>classify</a:t>
            </a:r>
            <a:r>
              <a:rPr sz="33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300" spc="-145" dirty="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sz="3300" spc="-4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131313"/>
                </a:solidFill>
                <a:latin typeface="Calibri"/>
                <a:cs typeface="Calibri"/>
              </a:rPr>
              <a:t>images.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6989" y="5612341"/>
            <a:ext cx="1045844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340" dirty="0">
                <a:solidFill>
                  <a:srgbClr val="161616"/>
                </a:solidFill>
                <a:latin typeface="Cambria"/>
                <a:cs typeface="Cambria"/>
              </a:rPr>
              <a:t>Anomaly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000" y="5650087"/>
            <a:ext cx="1045843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60" dirty="0">
                <a:solidFill>
                  <a:srgbClr val="1A1A1A"/>
                </a:solidFill>
                <a:latin typeface="Calibri"/>
                <a:cs typeface="Calibri"/>
              </a:rPr>
              <a:t>”Noise</a:t>
            </a:r>
            <a:r>
              <a:rPr lang="en-US" sz="2350" spc="-60" dirty="0">
                <a:solidFill>
                  <a:srgbClr val="1A1A1A"/>
                </a:solidFill>
                <a:latin typeface="Calibri"/>
                <a:cs typeface="Calibri"/>
              </a:rPr>
              <a:t>"</a:t>
            </a:r>
            <a:endParaRPr sz="2350" dirty="0">
              <a:latin typeface="Calibri"/>
              <a:cs typeface="Calibri"/>
            </a:endParaRPr>
          </a:p>
        </p:txBody>
      </p:sp>
      <p:pic>
        <p:nvPicPr>
          <p:cNvPr id="18" name="Picture 17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57BEF089-D153-AE21-442B-3D75151FE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205" y="6705600"/>
            <a:ext cx="9093795" cy="1144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400" y="835806"/>
            <a:ext cx="15810851" cy="2059794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 indent="55880">
              <a:lnSpc>
                <a:spcPct val="79500"/>
              </a:lnSpc>
              <a:spcBef>
                <a:spcPts val="1864"/>
              </a:spcBef>
            </a:pPr>
            <a:r>
              <a:rPr sz="7050" dirty="0">
                <a:solidFill>
                  <a:srgbClr val="071834"/>
                </a:solidFill>
                <a:latin typeface="Calibri"/>
                <a:cs typeface="Calibri"/>
              </a:rPr>
              <a:t>The</a:t>
            </a:r>
            <a:r>
              <a:rPr sz="7050" spc="-310" dirty="0">
                <a:solidFill>
                  <a:srgbClr val="071834"/>
                </a:solidFill>
                <a:latin typeface="Calibri"/>
                <a:cs typeface="Calibri"/>
              </a:rPr>
              <a:t> </a:t>
            </a:r>
            <a:r>
              <a:rPr sz="7050" spc="-125" dirty="0">
                <a:solidFill>
                  <a:srgbClr val="051838"/>
                </a:solidFill>
                <a:latin typeface="Calibri"/>
                <a:cs typeface="Calibri"/>
              </a:rPr>
              <a:t>Model</a:t>
            </a:r>
            <a:r>
              <a:rPr sz="7050" spc="-470" dirty="0">
                <a:solidFill>
                  <a:srgbClr val="051838"/>
                </a:solidFill>
                <a:latin typeface="Calibri"/>
                <a:cs typeface="Calibri"/>
              </a:rPr>
              <a:t> </a:t>
            </a:r>
            <a:r>
              <a:rPr sz="7050" spc="65" dirty="0">
                <a:solidFill>
                  <a:srgbClr val="07162D"/>
                </a:solidFill>
                <a:latin typeface="Calibri"/>
                <a:cs typeface="Calibri"/>
              </a:rPr>
              <a:t>Reliably </a:t>
            </a:r>
            <a:r>
              <a:rPr sz="7050" spc="50" dirty="0">
                <a:solidFill>
                  <a:srgbClr val="05132D"/>
                </a:solidFill>
                <a:latin typeface="Calibri"/>
                <a:cs typeface="Calibri"/>
              </a:rPr>
              <a:t>Identified</a:t>
            </a:r>
            <a:r>
              <a:rPr sz="7050" spc="60" dirty="0">
                <a:solidFill>
                  <a:srgbClr val="05132D"/>
                </a:solidFill>
                <a:latin typeface="Calibri"/>
                <a:cs typeface="Calibri"/>
              </a:rPr>
              <a:t> </a:t>
            </a:r>
            <a:r>
              <a:rPr sz="7050" spc="-20" dirty="0">
                <a:solidFill>
                  <a:srgbClr val="081833"/>
                </a:solidFill>
                <a:latin typeface="Calibri"/>
                <a:cs typeface="Calibri"/>
              </a:rPr>
              <a:t>True</a:t>
            </a:r>
            <a:r>
              <a:rPr sz="7050" spc="-200" dirty="0">
                <a:solidFill>
                  <a:srgbClr val="081833"/>
                </a:solidFill>
                <a:latin typeface="Calibri"/>
                <a:cs typeface="Calibri"/>
              </a:rPr>
              <a:t> </a:t>
            </a:r>
            <a:r>
              <a:rPr sz="7050" spc="125" dirty="0">
                <a:solidFill>
                  <a:srgbClr val="081A38"/>
                </a:solidFill>
                <a:latin typeface="Calibri"/>
                <a:cs typeface="Calibri"/>
              </a:rPr>
              <a:t>Ship </a:t>
            </a:r>
            <a:r>
              <a:rPr sz="7550" spc="-70" dirty="0">
                <a:solidFill>
                  <a:srgbClr val="03132A"/>
                </a:solidFill>
                <a:latin typeface="Calibri"/>
                <a:cs typeface="Calibri"/>
              </a:rPr>
              <a:t>Signatures</a:t>
            </a:r>
            <a:endParaRPr sz="7550" dirty="0">
              <a:latin typeface="Calibri"/>
              <a:cs typeface="Calibri"/>
            </a:endParaRPr>
          </a:p>
        </p:txBody>
      </p:sp>
      <p:pic>
        <p:nvPicPr>
          <p:cNvPr id="11" name="Picture 10" descr="A screenshot of a diagram&#10;&#10;AI-generated content may be incorrect.">
            <a:extLst>
              <a:ext uri="{FF2B5EF4-FFF2-40B4-BE49-F238E27FC236}">
                <a16:creationId xmlns:a16="http://schemas.microsoft.com/office/drawing/2014/main" id="{C6615557-BE13-158B-093A-5C3AEA02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895600"/>
            <a:ext cx="5867400" cy="5678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1600" y="1828800"/>
            <a:ext cx="850900" cy="50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996" y="812447"/>
            <a:ext cx="6554404" cy="2481513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 marR="5080" indent="3810">
              <a:lnSpc>
                <a:spcPts val="5950"/>
              </a:lnSpc>
              <a:spcBef>
                <a:spcPts val="1240"/>
              </a:spcBef>
              <a:tabLst>
                <a:tab pos="1395730" algn="l"/>
              </a:tabLst>
            </a:pPr>
            <a:r>
              <a:rPr b="1" spc="120" dirty="0">
                <a:solidFill>
                  <a:srgbClr val="051A3A"/>
                </a:solidFill>
                <a:latin typeface="Calibri"/>
                <a:cs typeface="Calibri"/>
              </a:rPr>
              <a:t>We</a:t>
            </a:r>
            <a:r>
              <a:rPr b="1" spc="-80" dirty="0">
                <a:solidFill>
                  <a:srgbClr val="051A3A"/>
                </a:solidFill>
                <a:latin typeface="Calibri"/>
                <a:cs typeface="Calibri"/>
              </a:rPr>
              <a:t> </a:t>
            </a:r>
            <a:r>
              <a:rPr b="1" spc="235" dirty="0">
                <a:solidFill>
                  <a:srgbClr val="05152F"/>
                </a:solidFill>
                <a:latin typeface="Calibri"/>
                <a:cs typeface="Calibri"/>
              </a:rPr>
              <a:t>Found</a:t>
            </a:r>
            <a:r>
              <a:rPr b="1" spc="40" dirty="0">
                <a:solidFill>
                  <a:srgbClr val="05152F"/>
                </a:solidFill>
                <a:latin typeface="Calibri"/>
                <a:cs typeface="Calibri"/>
              </a:rPr>
              <a:t> </a:t>
            </a:r>
            <a:r>
              <a:rPr b="1" spc="229" dirty="0">
                <a:solidFill>
                  <a:srgbClr val="03183B"/>
                </a:solidFill>
                <a:latin typeface="Calibri"/>
                <a:cs typeface="Calibri"/>
              </a:rPr>
              <a:t>Acoustic </a:t>
            </a:r>
            <a:r>
              <a:rPr sz="6050" b="1" spc="200" dirty="0">
                <a:solidFill>
                  <a:srgbClr val="051631"/>
                </a:solidFill>
                <a:latin typeface="Calibri"/>
                <a:cs typeface="Calibri"/>
              </a:rPr>
              <a:t>Signatures</a:t>
            </a:r>
            <a:r>
              <a:rPr sz="6050" b="1" spc="140" dirty="0">
                <a:solidFill>
                  <a:srgbClr val="051631"/>
                </a:solidFill>
                <a:latin typeface="Calibri"/>
                <a:cs typeface="Calibri"/>
              </a:rPr>
              <a:t> </a:t>
            </a:r>
            <a:r>
              <a:rPr sz="6050" b="1" spc="190" dirty="0">
                <a:solidFill>
                  <a:srgbClr val="051331"/>
                </a:solidFill>
                <a:latin typeface="Calibri"/>
                <a:cs typeface="Calibri"/>
              </a:rPr>
              <a:t>with </a:t>
            </a:r>
            <a:r>
              <a:rPr sz="6100" b="1" spc="204" dirty="0">
                <a:solidFill>
                  <a:srgbClr val="031A3B"/>
                </a:solidFill>
                <a:latin typeface="Calibri"/>
                <a:cs typeface="Calibri"/>
              </a:rPr>
              <a:t>AIS</a:t>
            </a:r>
            <a:r>
              <a:rPr sz="6100" b="1" dirty="0">
                <a:solidFill>
                  <a:srgbClr val="031A3B"/>
                </a:solidFill>
                <a:latin typeface="Calibri"/>
                <a:cs typeface="Calibri"/>
              </a:rPr>
              <a:t>	</a:t>
            </a:r>
            <a:r>
              <a:rPr sz="6100" b="1" spc="170" dirty="0">
                <a:solidFill>
                  <a:srgbClr val="03132F"/>
                </a:solidFill>
                <a:latin typeface="Calibri"/>
                <a:cs typeface="Calibri"/>
              </a:rPr>
              <a:t>Broadcast</a:t>
            </a:r>
            <a:endParaRPr sz="6100" b="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0583" y="3573638"/>
            <a:ext cx="7328534" cy="468376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4490" marR="688340" indent="-352425">
              <a:lnSpc>
                <a:spcPts val="3700"/>
              </a:lnSpc>
              <a:spcBef>
                <a:spcPts val="750"/>
              </a:spcBef>
              <a:buChar char="•"/>
              <a:tabLst>
                <a:tab pos="364490" algn="l"/>
                <a:tab pos="372110" algn="l"/>
              </a:tabLst>
            </a:pPr>
            <a:r>
              <a:rPr sz="3600" dirty="0">
                <a:latin typeface="Calibri"/>
                <a:cs typeface="Calibri"/>
              </a:rPr>
              <a:t>	</a:t>
            </a:r>
            <a:r>
              <a:rPr sz="3600" spc="-430" dirty="0">
                <a:latin typeface="Calibri"/>
                <a:cs typeface="Calibri"/>
              </a:rPr>
              <a:t>We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spc="-125" dirty="0">
                <a:latin typeface="Calibri"/>
                <a:cs typeface="Calibri"/>
              </a:rPr>
              <a:t>cross-</a:t>
            </a:r>
            <a:r>
              <a:rPr sz="3600" spc="-135" dirty="0">
                <a:latin typeface="Calibri"/>
                <a:cs typeface="Calibri"/>
              </a:rPr>
              <a:t>referenced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70" dirty="0">
                <a:latin typeface="Calibri"/>
                <a:cs typeface="Calibri"/>
              </a:rPr>
              <a:t>9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225" dirty="0">
                <a:latin typeface="Calibri"/>
                <a:cs typeface="Calibri"/>
              </a:rPr>
              <a:t>of</a:t>
            </a:r>
            <a:r>
              <a:rPr sz="3600" spc="50" dirty="0">
                <a:latin typeface="Calibri"/>
                <a:cs typeface="Calibri"/>
              </a:rPr>
              <a:t> </a:t>
            </a:r>
            <a:r>
              <a:rPr sz="3600" spc="-240" dirty="0">
                <a:latin typeface="Calibri"/>
                <a:cs typeface="Calibri"/>
              </a:rPr>
              <a:t>the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55" dirty="0">
                <a:latin typeface="Calibri"/>
                <a:cs typeface="Calibri"/>
              </a:rPr>
              <a:t>model's </a:t>
            </a:r>
            <a:r>
              <a:rPr sz="3600" spc="-130" dirty="0">
                <a:latin typeface="Calibri"/>
                <a:cs typeface="Calibri"/>
              </a:rPr>
              <a:t>high-</a:t>
            </a:r>
            <a:r>
              <a:rPr sz="3600" spc="-140" dirty="0">
                <a:latin typeface="Calibri"/>
                <a:cs typeface="Calibri"/>
              </a:rPr>
              <a:t>confidence</a:t>
            </a:r>
            <a:r>
              <a:rPr sz="3600" spc="-204" dirty="0">
                <a:latin typeface="Calibri"/>
                <a:cs typeface="Calibri"/>
              </a:rPr>
              <a:t> </a:t>
            </a:r>
            <a:r>
              <a:rPr sz="3600" spc="-170" dirty="0">
                <a:latin typeface="Calibri"/>
                <a:cs typeface="Calibri"/>
              </a:rPr>
              <a:t>detections</a:t>
            </a:r>
            <a:r>
              <a:rPr sz="3600" spc="180" dirty="0">
                <a:latin typeface="Calibri"/>
                <a:cs typeface="Calibri"/>
              </a:rPr>
              <a:t> </a:t>
            </a:r>
            <a:r>
              <a:rPr sz="3600" spc="-240" dirty="0">
                <a:latin typeface="Calibri"/>
                <a:cs typeface="Calibri"/>
              </a:rPr>
              <a:t>with</a:t>
            </a:r>
            <a:r>
              <a:rPr sz="3600" spc="1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AIS </a:t>
            </a:r>
            <a:r>
              <a:rPr sz="3600" spc="-150" dirty="0">
                <a:latin typeface="Calibri"/>
                <a:cs typeface="Calibri"/>
              </a:rPr>
              <a:t>records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254" dirty="0">
                <a:latin typeface="Calibri"/>
                <a:cs typeface="Calibri"/>
              </a:rPr>
              <a:t>from</a:t>
            </a:r>
            <a:r>
              <a:rPr sz="3600" spc="50" dirty="0">
                <a:latin typeface="Calibri"/>
                <a:cs typeface="Calibri"/>
              </a:rPr>
              <a:t> </a:t>
            </a:r>
            <a:r>
              <a:rPr sz="3600" spc="-240" dirty="0">
                <a:latin typeface="Calibri"/>
                <a:cs typeface="Calibri"/>
              </a:rPr>
              <a:t>the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80" dirty="0">
                <a:latin typeface="Calibri"/>
                <a:cs typeface="Calibri"/>
              </a:rPr>
              <a:t>same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20" dirty="0">
                <a:latin typeface="Calibri"/>
                <a:cs typeface="Calibri"/>
              </a:rPr>
              <a:t>time</a:t>
            </a:r>
            <a:r>
              <a:rPr sz="3600" spc="15" dirty="0">
                <a:latin typeface="Calibri"/>
                <a:cs typeface="Calibri"/>
              </a:rPr>
              <a:t> </a:t>
            </a:r>
            <a:r>
              <a:rPr sz="3600" spc="-45" dirty="0">
                <a:latin typeface="Calibri"/>
                <a:cs typeface="Calibri"/>
              </a:rPr>
              <a:t>period.</a:t>
            </a:r>
            <a:endParaRPr sz="3600" dirty="0">
              <a:latin typeface="Calibri"/>
              <a:cs typeface="Calibri"/>
            </a:endParaRPr>
          </a:p>
          <a:p>
            <a:pPr marL="374650" marR="240029" indent="-362585">
              <a:lnSpc>
                <a:spcPts val="3650"/>
              </a:lnSpc>
              <a:spcBef>
                <a:spcPts val="1540"/>
              </a:spcBef>
              <a:buChar char="•"/>
              <a:tabLst>
                <a:tab pos="378460" algn="l"/>
              </a:tabLst>
            </a:pPr>
            <a:r>
              <a:rPr sz="3600" spc="-170" dirty="0">
                <a:latin typeface="Calibri"/>
                <a:cs typeface="Calibri"/>
              </a:rPr>
              <a:t>6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55" dirty="0">
                <a:latin typeface="Calibri"/>
                <a:cs typeface="Calibri"/>
              </a:rPr>
              <a:t>detections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250" dirty="0">
                <a:latin typeface="Calibri"/>
                <a:cs typeface="Calibri"/>
              </a:rPr>
              <a:t>were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95" dirty="0">
                <a:latin typeface="Calibri"/>
                <a:cs typeface="Calibri"/>
              </a:rPr>
              <a:t>successfully</a:t>
            </a:r>
            <a:r>
              <a:rPr sz="3600" spc="65" dirty="0">
                <a:latin typeface="Calibri"/>
                <a:cs typeface="Calibri"/>
              </a:rPr>
              <a:t> </a:t>
            </a:r>
            <a:r>
              <a:rPr sz="3600" spc="-195" dirty="0">
                <a:latin typeface="Calibri"/>
                <a:cs typeface="Calibri"/>
              </a:rPr>
              <a:t>matched 	</a:t>
            </a:r>
            <a:r>
              <a:rPr sz="3600" spc="-254" dirty="0">
                <a:latin typeface="Calibri"/>
                <a:cs typeface="Calibri"/>
              </a:rPr>
              <a:t>to</a:t>
            </a:r>
            <a:r>
              <a:rPr sz="3600" spc="-145" dirty="0">
                <a:latin typeface="Calibri"/>
                <a:cs typeface="Calibri"/>
              </a:rPr>
              <a:t> </a:t>
            </a:r>
            <a:r>
              <a:rPr sz="3600" spc="-240" dirty="0">
                <a:latin typeface="Calibri"/>
                <a:cs typeface="Calibri"/>
              </a:rPr>
              <a:t>known</a:t>
            </a:r>
            <a:r>
              <a:rPr sz="3600" spc="35" dirty="0">
                <a:latin typeface="Calibri"/>
                <a:cs typeface="Calibri"/>
              </a:rPr>
              <a:t> </a:t>
            </a:r>
            <a:r>
              <a:rPr sz="3600" spc="-95" dirty="0">
                <a:latin typeface="Calibri"/>
                <a:cs typeface="Calibri"/>
              </a:rPr>
              <a:t>vessels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spc="-155" dirty="0">
                <a:latin typeface="Calibri"/>
                <a:cs typeface="Calibri"/>
              </a:rPr>
              <a:t>broadcasting</a:t>
            </a:r>
            <a:r>
              <a:rPr sz="3600" spc="114" dirty="0">
                <a:latin typeface="Calibri"/>
                <a:cs typeface="Calibri"/>
              </a:rPr>
              <a:t> </a:t>
            </a:r>
            <a:r>
              <a:rPr sz="3600" spc="-254" dirty="0">
                <a:latin typeface="Calibri"/>
                <a:cs typeface="Calibri"/>
              </a:rPr>
              <a:t>on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AIS.</a:t>
            </a:r>
            <a:endParaRPr sz="3600" dirty="0">
              <a:latin typeface="Calibri"/>
              <a:cs typeface="Calibri"/>
            </a:endParaRPr>
          </a:p>
          <a:p>
            <a:pPr marL="365125" marR="5080" indent="-350520">
              <a:lnSpc>
                <a:spcPct val="86600"/>
              </a:lnSpc>
              <a:spcBef>
                <a:spcPts val="1614"/>
              </a:spcBef>
              <a:buChar char="•"/>
              <a:tabLst>
                <a:tab pos="365125" algn="l"/>
                <a:tab pos="376555" algn="l"/>
              </a:tabLst>
            </a:pPr>
            <a:r>
              <a:rPr sz="3400" dirty="0">
                <a:latin typeface="Calibri"/>
                <a:cs typeface="Calibri"/>
              </a:rPr>
              <a:t>	3</a:t>
            </a:r>
            <a:r>
              <a:rPr sz="3400" spc="-195" dirty="0">
                <a:latin typeface="Calibri"/>
                <a:cs typeface="Calibri"/>
              </a:rPr>
              <a:t> </a:t>
            </a:r>
            <a:r>
              <a:rPr sz="3400" spc="-55" dirty="0">
                <a:latin typeface="Calibri"/>
                <a:cs typeface="Calibri"/>
              </a:rPr>
              <a:t>detections</a:t>
            </a:r>
            <a:r>
              <a:rPr sz="3400" spc="-40" dirty="0">
                <a:latin typeface="Calibri"/>
                <a:cs typeface="Calibri"/>
              </a:rPr>
              <a:t> </a:t>
            </a:r>
            <a:r>
              <a:rPr sz="3400" spc="-120" dirty="0">
                <a:latin typeface="Calibri"/>
                <a:cs typeface="Calibri"/>
              </a:rPr>
              <a:t>were</a:t>
            </a:r>
            <a:r>
              <a:rPr sz="3400" spc="-70" dirty="0">
                <a:latin typeface="Calibri"/>
                <a:cs typeface="Calibri"/>
              </a:rPr>
              <a:t> </a:t>
            </a:r>
            <a:r>
              <a:rPr sz="3400" spc="-85" dirty="0">
                <a:latin typeface="Calibri"/>
                <a:cs typeface="Calibri"/>
              </a:rPr>
              <a:t>potential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45" dirty="0">
                <a:latin typeface="Calibri"/>
                <a:cs typeface="Calibri"/>
              </a:rPr>
              <a:t>“Dark</a:t>
            </a:r>
            <a:r>
              <a:rPr sz="3400" spc="-10" dirty="0">
                <a:latin typeface="Calibri"/>
                <a:cs typeface="Calibri"/>
              </a:rPr>
              <a:t> Ships”: </a:t>
            </a:r>
            <a:r>
              <a:rPr sz="3550" spc="114" dirty="0">
                <a:latin typeface="Calibri"/>
                <a:cs typeface="Calibri"/>
              </a:rPr>
              <a:t>a</a:t>
            </a:r>
            <a:r>
              <a:rPr sz="3550" spc="-335" dirty="0">
                <a:latin typeface="Calibri"/>
                <a:cs typeface="Calibri"/>
              </a:rPr>
              <a:t> </a:t>
            </a:r>
            <a:r>
              <a:rPr sz="3550" spc="-100" dirty="0">
                <a:latin typeface="Calibri"/>
                <a:cs typeface="Calibri"/>
              </a:rPr>
              <a:t>clear </a:t>
            </a:r>
            <a:r>
              <a:rPr sz="3550" spc="-110" dirty="0">
                <a:latin typeface="Calibri"/>
                <a:cs typeface="Calibri"/>
              </a:rPr>
              <a:t>acoustic</a:t>
            </a:r>
            <a:r>
              <a:rPr sz="3550" spc="-70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signature</a:t>
            </a:r>
            <a:r>
              <a:rPr sz="3550" spc="10" dirty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was</a:t>
            </a:r>
            <a:r>
              <a:rPr sz="3550" spc="-2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present, </a:t>
            </a:r>
            <a:r>
              <a:rPr sz="3550" spc="-190" dirty="0">
                <a:latin typeface="Calibri"/>
                <a:cs typeface="Calibri"/>
              </a:rPr>
              <a:t>but</a:t>
            </a:r>
            <a:r>
              <a:rPr sz="3550" spc="-10" dirty="0">
                <a:latin typeface="Calibri"/>
                <a:cs typeface="Calibri"/>
              </a:rPr>
              <a:t> </a:t>
            </a:r>
            <a:r>
              <a:rPr sz="3550" spc="-235" dirty="0">
                <a:latin typeface="Calibri"/>
                <a:cs typeface="Calibri"/>
              </a:rPr>
              <a:t>no</a:t>
            </a:r>
            <a:r>
              <a:rPr sz="3550" spc="-2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AIS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spc="-85" dirty="0">
                <a:latin typeface="Calibri"/>
                <a:cs typeface="Calibri"/>
              </a:rPr>
              <a:t>signal</a:t>
            </a:r>
            <a:r>
              <a:rPr sz="3550" spc="-105" dirty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was</a:t>
            </a:r>
            <a:r>
              <a:rPr sz="3550" spc="-15" dirty="0">
                <a:latin typeface="Calibri"/>
                <a:cs typeface="Calibri"/>
              </a:rPr>
              <a:t> </a:t>
            </a:r>
            <a:r>
              <a:rPr sz="3550" spc="-170" dirty="0">
                <a:latin typeface="Calibri"/>
                <a:cs typeface="Calibri"/>
              </a:rPr>
              <a:t>recorded</a:t>
            </a:r>
            <a:r>
              <a:rPr sz="3550" spc="65" dirty="0">
                <a:latin typeface="Calibri"/>
                <a:cs typeface="Calibri"/>
              </a:rPr>
              <a:t> </a:t>
            </a:r>
            <a:r>
              <a:rPr sz="3550" spc="-190" dirty="0">
                <a:latin typeface="Calibri"/>
                <a:cs typeface="Calibri"/>
              </a:rPr>
              <a:t>within</a:t>
            </a:r>
            <a:r>
              <a:rPr sz="3550" spc="15" dirty="0">
                <a:latin typeface="Calibri"/>
                <a:cs typeface="Calibri"/>
              </a:rPr>
              <a:t> </a:t>
            </a:r>
            <a:r>
              <a:rPr sz="3550" spc="65" dirty="0">
                <a:latin typeface="Calibri"/>
                <a:cs typeface="Calibri"/>
              </a:rPr>
              <a:t>a</a:t>
            </a:r>
            <a:endParaRPr sz="3550" dirty="0">
              <a:latin typeface="Calibri"/>
              <a:cs typeface="Calibri"/>
            </a:endParaRPr>
          </a:p>
          <a:p>
            <a:pPr marL="384175">
              <a:lnSpc>
                <a:spcPts val="3550"/>
              </a:lnSpc>
            </a:pPr>
            <a:r>
              <a:rPr sz="3300" dirty="0">
                <a:latin typeface="Calibri"/>
                <a:cs typeface="Calibri"/>
              </a:rPr>
              <a:t>+2</a:t>
            </a:r>
            <a:r>
              <a:rPr sz="3300" spc="-125" dirty="0">
                <a:latin typeface="Calibri"/>
                <a:cs typeface="Calibri"/>
              </a:rPr>
              <a:t> </a:t>
            </a:r>
            <a:r>
              <a:rPr sz="3300" spc="-45" dirty="0">
                <a:latin typeface="Calibri"/>
                <a:cs typeface="Calibri"/>
              </a:rPr>
              <a:t>minute</a:t>
            </a:r>
            <a:r>
              <a:rPr sz="3300" spc="-10" dirty="0">
                <a:latin typeface="Calibri"/>
                <a:cs typeface="Calibri"/>
              </a:rPr>
              <a:t> window.</a:t>
            </a:r>
            <a:endParaRPr sz="3300" dirty="0">
              <a:latin typeface="Calibri"/>
              <a:cs typeface="Calibri"/>
            </a:endParaRP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B02055B0-D693-7007-FF79-0595673D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784" y="2057400"/>
            <a:ext cx="5756440" cy="65981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0317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10"/>
              </a:spcBef>
            </a:pPr>
            <a:r>
              <a:rPr sz="4850" dirty="0">
                <a:solidFill>
                  <a:srgbClr val="011533"/>
                </a:solidFill>
              </a:rPr>
              <a:t>Our</a:t>
            </a:r>
            <a:r>
              <a:rPr sz="4850" spc="80" dirty="0">
                <a:solidFill>
                  <a:srgbClr val="011533"/>
                </a:solidFill>
              </a:rPr>
              <a:t> </a:t>
            </a:r>
            <a:r>
              <a:rPr sz="4850" spc="-10" dirty="0">
                <a:solidFill>
                  <a:srgbClr val="051634"/>
                </a:solidFill>
              </a:rPr>
              <a:t>CNN</a:t>
            </a:r>
            <a:r>
              <a:rPr sz="4850" spc="-90" dirty="0">
                <a:solidFill>
                  <a:srgbClr val="051634"/>
                </a:solidFill>
              </a:rPr>
              <a:t> </a:t>
            </a:r>
            <a:r>
              <a:rPr sz="4850" dirty="0">
                <a:solidFill>
                  <a:srgbClr val="051634"/>
                </a:solidFill>
              </a:rPr>
              <a:t>Approach</a:t>
            </a:r>
            <a:r>
              <a:rPr sz="4850" spc="-15" dirty="0">
                <a:solidFill>
                  <a:srgbClr val="051634"/>
                </a:solidFill>
              </a:rPr>
              <a:t> </a:t>
            </a:r>
            <a:r>
              <a:rPr sz="4850" spc="-25" dirty="0">
                <a:solidFill>
                  <a:srgbClr val="051531"/>
                </a:solidFill>
              </a:rPr>
              <a:t>Was</a:t>
            </a:r>
            <a:endParaRPr sz="4850"/>
          </a:p>
          <a:p>
            <a:pPr marL="164465">
              <a:lnSpc>
                <a:spcPct val="100000"/>
              </a:lnSpc>
              <a:spcBef>
                <a:spcPts val="80"/>
              </a:spcBef>
            </a:pPr>
            <a:r>
              <a:rPr sz="4900" spc="-155" dirty="0">
                <a:solidFill>
                  <a:srgbClr val="081836"/>
                </a:solidFill>
              </a:rPr>
              <a:t>One</a:t>
            </a:r>
            <a:r>
              <a:rPr sz="4900" spc="-190" dirty="0">
                <a:solidFill>
                  <a:srgbClr val="081836"/>
                </a:solidFill>
              </a:rPr>
              <a:t> </a:t>
            </a:r>
            <a:r>
              <a:rPr sz="4900" dirty="0">
                <a:solidFill>
                  <a:srgbClr val="0A1C3A"/>
                </a:solidFill>
              </a:rPr>
              <a:t>Path</a:t>
            </a:r>
            <a:r>
              <a:rPr sz="4900" spc="-125" dirty="0">
                <a:solidFill>
                  <a:srgbClr val="0A1C3A"/>
                </a:solidFill>
              </a:rPr>
              <a:t> </a:t>
            </a:r>
            <a:r>
              <a:rPr sz="4900" spc="95" dirty="0">
                <a:solidFill>
                  <a:srgbClr val="081836"/>
                </a:solidFill>
              </a:rPr>
              <a:t>of</a:t>
            </a:r>
            <a:r>
              <a:rPr sz="4900" spc="-15" dirty="0">
                <a:solidFill>
                  <a:srgbClr val="081836"/>
                </a:solidFill>
              </a:rPr>
              <a:t> </a:t>
            </a:r>
            <a:r>
              <a:rPr sz="4900" dirty="0">
                <a:solidFill>
                  <a:srgbClr val="051634"/>
                </a:solidFill>
              </a:rPr>
              <a:t>Many</a:t>
            </a:r>
            <a:r>
              <a:rPr sz="4900" spc="-60" dirty="0">
                <a:solidFill>
                  <a:srgbClr val="051634"/>
                </a:solidFill>
              </a:rPr>
              <a:t> </a:t>
            </a:r>
            <a:r>
              <a:rPr sz="4900" spc="-10" dirty="0">
                <a:solidFill>
                  <a:srgbClr val="081836"/>
                </a:solidFill>
              </a:rPr>
              <a:t>Explored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1099783" y="2951338"/>
            <a:ext cx="7052309" cy="54330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79095" marR="455930" indent="-367030">
              <a:lnSpc>
                <a:spcPct val="93600"/>
              </a:lnSpc>
              <a:spcBef>
                <a:spcPts val="385"/>
              </a:spcBef>
              <a:buChar char="•"/>
              <a:tabLst>
                <a:tab pos="379095" algn="l"/>
                <a:tab pos="394970" algn="l"/>
              </a:tabLst>
            </a:pPr>
            <a:r>
              <a:rPr sz="3600" dirty="0">
                <a:solidFill>
                  <a:srgbClr val="414141"/>
                </a:solidFill>
                <a:latin typeface="Calibri"/>
                <a:cs typeface="Calibri"/>
              </a:rPr>
              <a:t>	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successful</a:t>
            </a:r>
            <a:r>
              <a:rPr sz="3600" spc="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CNN</a:t>
            </a:r>
            <a:r>
              <a:rPr sz="3600" spc="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classifier </a:t>
            </a:r>
            <a:r>
              <a:rPr sz="3450" dirty="0">
                <a:latin typeface="Calibri"/>
                <a:cs typeface="Calibri"/>
              </a:rPr>
              <a:t>represents</a:t>
            </a:r>
            <a:r>
              <a:rPr sz="3450" spc="204" dirty="0">
                <a:latin typeface="Calibri"/>
                <a:cs typeface="Calibri"/>
              </a:rPr>
              <a:t> </a:t>
            </a:r>
            <a:r>
              <a:rPr sz="3450" dirty="0">
                <a:latin typeface="Calibri"/>
                <a:cs typeface="Calibri"/>
              </a:rPr>
              <a:t>a</a:t>
            </a:r>
            <a:r>
              <a:rPr sz="3450" spc="100" dirty="0">
                <a:latin typeface="Calibri"/>
                <a:cs typeface="Calibri"/>
              </a:rPr>
              <a:t> </a:t>
            </a:r>
            <a:r>
              <a:rPr sz="3450" dirty="0">
                <a:latin typeface="Calibri"/>
                <a:cs typeface="Calibri"/>
              </a:rPr>
              <a:t>pragmatic</a:t>
            </a:r>
            <a:r>
              <a:rPr sz="3450" spc="310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solution </a:t>
            </a:r>
            <a:r>
              <a:rPr sz="3400" dirty="0">
                <a:latin typeface="Calibri"/>
                <a:cs typeface="Calibri"/>
              </a:rPr>
              <a:t>shaped</a:t>
            </a:r>
            <a:r>
              <a:rPr sz="3400" spc="3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by</a:t>
            </a:r>
            <a:r>
              <a:rPr sz="3400" spc="23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the</a:t>
            </a:r>
            <a:r>
              <a:rPr sz="3400" spc="2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project's</a:t>
            </a:r>
            <a:r>
              <a:rPr sz="3400" spc="32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real-</a:t>
            </a:r>
            <a:r>
              <a:rPr sz="3400" spc="-10" dirty="0">
                <a:latin typeface="Calibri"/>
                <a:cs typeface="Calibri"/>
              </a:rPr>
              <a:t>world </a:t>
            </a:r>
            <a:r>
              <a:rPr sz="3450" spc="-10" dirty="0">
                <a:latin typeface="Calibri"/>
                <a:cs typeface="Calibri"/>
              </a:rPr>
              <a:t>constraints.</a:t>
            </a:r>
            <a:endParaRPr sz="3450">
              <a:latin typeface="Calibri"/>
              <a:cs typeface="Calibri"/>
            </a:endParaRPr>
          </a:p>
          <a:p>
            <a:pPr marL="375920" marR="5080" indent="-363855">
              <a:lnSpc>
                <a:spcPct val="87400"/>
              </a:lnSpc>
              <a:spcBef>
                <a:spcPts val="1855"/>
              </a:spcBef>
              <a:buChar char="•"/>
              <a:tabLst>
                <a:tab pos="375920" algn="l"/>
                <a:tab pos="389255" algn="l"/>
              </a:tabLst>
            </a:pPr>
            <a:r>
              <a:rPr sz="3600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3600" spc="-85" dirty="0">
                <a:latin typeface="Calibri"/>
                <a:cs typeface="Calibri"/>
              </a:rPr>
              <a:t>Our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final</a:t>
            </a:r>
            <a:r>
              <a:rPr sz="3600" spc="-195" dirty="0">
                <a:latin typeface="Calibri"/>
                <a:cs typeface="Calibri"/>
              </a:rPr>
              <a:t> </a:t>
            </a:r>
            <a:r>
              <a:rPr sz="3600" spc="-65" dirty="0">
                <a:latin typeface="Calibri"/>
                <a:cs typeface="Calibri"/>
              </a:rPr>
              <a:t>methodology</a:t>
            </a:r>
            <a:r>
              <a:rPr sz="3600" spc="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was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50" dirty="0">
                <a:latin typeface="Calibri"/>
                <a:cs typeface="Calibri"/>
              </a:rPr>
              <a:t>driven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by </a:t>
            </a:r>
            <a:r>
              <a:rPr sz="3750" spc="-105" dirty="0">
                <a:latin typeface="Calibri"/>
                <a:cs typeface="Calibri"/>
              </a:rPr>
              <a:t>data</a:t>
            </a:r>
            <a:r>
              <a:rPr sz="3750" spc="-120" dirty="0">
                <a:latin typeface="Calibri"/>
                <a:cs typeface="Calibri"/>
              </a:rPr>
              <a:t> </a:t>
            </a:r>
            <a:r>
              <a:rPr sz="3750" spc="-90" dirty="0">
                <a:latin typeface="Calibri"/>
                <a:cs typeface="Calibri"/>
              </a:rPr>
              <a:t>availability</a:t>
            </a:r>
            <a:r>
              <a:rPr sz="3750" spc="-60" dirty="0">
                <a:latin typeface="Calibri"/>
                <a:cs typeface="Calibri"/>
              </a:rPr>
              <a:t> </a:t>
            </a:r>
            <a:r>
              <a:rPr sz="3750" spc="-120" dirty="0">
                <a:latin typeface="Calibri"/>
                <a:cs typeface="Calibri"/>
              </a:rPr>
              <a:t>and</a:t>
            </a:r>
            <a:r>
              <a:rPr sz="3750" spc="-95" dirty="0">
                <a:latin typeface="Calibri"/>
                <a:cs typeface="Calibri"/>
              </a:rPr>
              <a:t> </a:t>
            </a:r>
            <a:r>
              <a:rPr sz="3750" spc="-40" dirty="0">
                <a:latin typeface="Calibri"/>
                <a:cs typeface="Calibri"/>
              </a:rPr>
              <a:t>computational </a:t>
            </a:r>
            <a:r>
              <a:rPr sz="3650" spc="-10" dirty="0">
                <a:latin typeface="Calibri"/>
                <a:cs typeface="Calibri"/>
              </a:rPr>
              <a:t>feasibility.</a:t>
            </a:r>
            <a:endParaRPr sz="3650">
              <a:latin typeface="Calibri"/>
              <a:cs typeface="Calibri"/>
            </a:endParaRPr>
          </a:p>
          <a:p>
            <a:pPr marL="390525" marR="119380" indent="-357505">
              <a:lnSpc>
                <a:spcPts val="3850"/>
              </a:lnSpc>
              <a:spcBef>
                <a:spcPts val="1835"/>
              </a:spcBef>
              <a:buClr>
                <a:srgbClr val="444444"/>
              </a:buClr>
              <a:buChar char="•"/>
              <a:tabLst>
                <a:tab pos="396240" algn="l"/>
              </a:tabLst>
            </a:pPr>
            <a:r>
              <a:rPr sz="3300" spc="-50" dirty="0">
                <a:latin typeface="Arial MT"/>
                <a:cs typeface="Arial MT"/>
              </a:rPr>
              <a:t>Exploring</a:t>
            </a:r>
            <a:r>
              <a:rPr sz="3300" spc="-18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alternative,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more</a:t>
            </a:r>
            <a:r>
              <a:rPr sz="3300" spc="-21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complex 	models</a:t>
            </a:r>
            <a:r>
              <a:rPr sz="3300" spc="-210" dirty="0">
                <a:latin typeface="Arial MT"/>
                <a:cs typeface="Arial MT"/>
              </a:rPr>
              <a:t> </a:t>
            </a:r>
            <a:r>
              <a:rPr sz="3300" spc="-65" dirty="0">
                <a:latin typeface="Arial MT"/>
                <a:cs typeface="Arial MT"/>
              </a:rPr>
              <a:t>was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155" dirty="0">
                <a:latin typeface="Arial MT"/>
                <a:cs typeface="Arial MT"/>
              </a:rPr>
              <a:t>a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crucial</a:t>
            </a:r>
            <a:r>
              <a:rPr sz="3300" spc="-2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part</a:t>
            </a:r>
            <a:r>
              <a:rPr sz="3300" spc="-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of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our 	</a:t>
            </a:r>
            <a:r>
              <a:rPr sz="3300" spc="-60" dirty="0">
                <a:latin typeface="Arial MT"/>
                <a:cs typeface="Arial MT"/>
              </a:rPr>
              <a:t>research</a:t>
            </a:r>
            <a:r>
              <a:rPr sz="3300" spc="-14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process.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6661A549-2649-69C3-CEC1-DC8AE14A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839" y="1905000"/>
            <a:ext cx="6784961" cy="6911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1847" y="589491"/>
            <a:ext cx="6070600" cy="218444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5080">
              <a:lnSpc>
                <a:spcPct val="84500"/>
              </a:lnSpc>
              <a:spcBef>
                <a:spcPts val="1075"/>
              </a:spcBef>
            </a:pPr>
            <a:r>
              <a:rPr sz="5200" b="1" spc="65" dirty="0">
                <a:solidFill>
                  <a:srgbClr val="081631"/>
                </a:solidFill>
                <a:latin typeface="Calibri"/>
                <a:cs typeface="Calibri"/>
              </a:rPr>
              <a:t>Explored</a:t>
            </a:r>
            <a:r>
              <a:rPr sz="5200" b="1" spc="-40" dirty="0">
                <a:solidFill>
                  <a:srgbClr val="081631"/>
                </a:solidFill>
                <a:latin typeface="Calibri"/>
                <a:cs typeface="Calibri"/>
              </a:rPr>
              <a:t> </a:t>
            </a:r>
            <a:r>
              <a:rPr sz="5200" b="1" spc="65" dirty="0">
                <a:solidFill>
                  <a:srgbClr val="031A3A"/>
                </a:solidFill>
                <a:latin typeface="Calibri"/>
                <a:cs typeface="Calibri"/>
              </a:rPr>
              <a:t>Path</a:t>
            </a:r>
            <a:r>
              <a:rPr sz="5200" b="1" spc="-70" dirty="0">
                <a:solidFill>
                  <a:srgbClr val="031A3A"/>
                </a:solidFill>
                <a:latin typeface="Calibri"/>
                <a:cs typeface="Calibri"/>
              </a:rPr>
              <a:t> </a:t>
            </a:r>
            <a:r>
              <a:rPr sz="5200" b="1" spc="165" dirty="0">
                <a:solidFill>
                  <a:srgbClr val="031533"/>
                </a:solidFill>
                <a:latin typeface="Calibri"/>
                <a:cs typeface="Calibri"/>
              </a:rPr>
              <a:t>#1: </a:t>
            </a:r>
            <a:r>
              <a:rPr sz="5200" b="1" dirty="0">
                <a:solidFill>
                  <a:srgbClr val="03132D"/>
                </a:solidFill>
                <a:latin typeface="Calibri"/>
                <a:cs typeface="Calibri"/>
              </a:rPr>
              <a:t>Spatiotempora</a:t>
            </a:r>
            <a:r>
              <a:rPr lang="en-US" sz="5200" b="1" dirty="0">
                <a:solidFill>
                  <a:srgbClr val="03132D"/>
                </a:solidFill>
                <a:latin typeface="Calibri"/>
                <a:cs typeface="Calibri"/>
              </a:rPr>
              <a:t>l</a:t>
            </a:r>
            <a:r>
              <a:rPr sz="5200" b="1" spc="-285" dirty="0">
                <a:solidFill>
                  <a:srgbClr val="03132D"/>
                </a:solidFill>
                <a:latin typeface="Calibri"/>
                <a:cs typeface="Calibri"/>
              </a:rPr>
              <a:t> </a:t>
            </a:r>
            <a:r>
              <a:rPr sz="5200" b="1" spc="-10" dirty="0">
                <a:solidFill>
                  <a:srgbClr val="051836"/>
                </a:solidFill>
                <a:latin typeface="Calibri"/>
                <a:cs typeface="Calibri"/>
              </a:rPr>
              <a:t>Graph </a:t>
            </a:r>
            <a:r>
              <a:rPr sz="5200" b="1" spc="-10" dirty="0">
                <a:solidFill>
                  <a:srgbClr val="081A3B"/>
                </a:solidFill>
                <a:latin typeface="Calibri"/>
                <a:cs typeface="Calibri"/>
              </a:rPr>
              <a:t>Diffusion</a:t>
            </a:r>
            <a:endParaRPr sz="5200" b="1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6969" y="3013075"/>
            <a:ext cx="7821930" cy="565905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8615" marR="925194" indent="-335915">
              <a:lnSpc>
                <a:spcPct val="86200"/>
              </a:lnSpc>
              <a:spcBef>
                <a:spcPts val="635"/>
              </a:spcBef>
              <a:buClr>
                <a:srgbClr val="676767"/>
              </a:buClr>
              <a:buChar char="•"/>
              <a:tabLst>
                <a:tab pos="348615" algn="l"/>
              </a:tabLst>
            </a:pPr>
            <a:r>
              <a:rPr sz="3100" b="1" dirty="0">
                <a:latin typeface="Calibri"/>
                <a:cs typeface="Calibri"/>
              </a:rPr>
              <a:t>Concept:</a:t>
            </a:r>
            <a:r>
              <a:rPr sz="3100" b="1" spc="-175" dirty="0">
                <a:latin typeface="Calibri"/>
                <a:cs typeface="Calibri"/>
              </a:rPr>
              <a:t> </a:t>
            </a:r>
            <a:r>
              <a:rPr sz="3100" spc="-140" dirty="0">
                <a:latin typeface="Calibri"/>
                <a:cs typeface="Calibri"/>
              </a:rPr>
              <a:t>Model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-100" dirty="0">
                <a:latin typeface="Calibri"/>
                <a:cs typeface="Calibri"/>
              </a:rPr>
              <a:t>the</a:t>
            </a:r>
            <a:r>
              <a:rPr sz="3100" spc="-75" dirty="0">
                <a:latin typeface="Calibri"/>
                <a:cs typeface="Calibri"/>
              </a:rPr>
              <a:t> </a:t>
            </a:r>
            <a:r>
              <a:rPr sz="3100" spc="-70" dirty="0">
                <a:latin typeface="Calibri"/>
                <a:cs typeface="Calibri"/>
              </a:rPr>
              <a:t>fiber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30" dirty="0">
                <a:latin typeface="Calibri"/>
                <a:cs typeface="Calibri"/>
              </a:rPr>
              <a:t>optic</a:t>
            </a:r>
            <a:r>
              <a:rPr sz="3100" spc="-1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cable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as</a:t>
            </a:r>
            <a:r>
              <a:rPr sz="3100" spc="-125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an </a:t>
            </a:r>
            <a:r>
              <a:rPr sz="3200" spc="-120" dirty="0">
                <a:latin typeface="Calibri"/>
                <a:cs typeface="Calibri"/>
              </a:rPr>
              <a:t>interconnected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35" dirty="0">
                <a:latin typeface="Calibri"/>
                <a:cs typeface="Calibri"/>
              </a:rPr>
              <a:t>network,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70" dirty="0">
                <a:latin typeface="Calibri"/>
                <a:cs typeface="Calibri"/>
              </a:rPr>
              <a:t>with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85" dirty="0">
                <a:latin typeface="Calibri"/>
                <a:cs typeface="Calibri"/>
              </a:rPr>
              <a:t>each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sensor </a:t>
            </a:r>
            <a:r>
              <a:rPr sz="3200" spc="-145" dirty="0">
                <a:latin typeface="Calibri"/>
                <a:cs typeface="Calibri"/>
              </a:rPr>
              <a:t>point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140" dirty="0">
                <a:latin typeface="Calibri"/>
                <a:cs typeface="Calibri"/>
              </a:rPr>
              <a:t>node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95" dirty="0">
                <a:latin typeface="Calibri"/>
                <a:cs typeface="Calibri"/>
              </a:rPr>
              <a:t>in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125" dirty="0">
                <a:latin typeface="Calibri"/>
                <a:cs typeface="Calibri"/>
              </a:rPr>
              <a:t>graph.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This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would </a:t>
            </a:r>
            <a:r>
              <a:rPr sz="3300" spc="-120" dirty="0">
                <a:latin typeface="Calibri"/>
                <a:cs typeface="Calibri"/>
              </a:rPr>
              <a:t>explicitly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spc="-160" dirty="0">
                <a:latin typeface="Calibri"/>
                <a:cs typeface="Calibri"/>
              </a:rPr>
              <a:t>model</a:t>
            </a:r>
            <a:r>
              <a:rPr sz="3300" spc="-165" dirty="0">
                <a:latin typeface="Calibri"/>
                <a:cs typeface="Calibri"/>
              </a:rPr>
              <a:t> </a:t>
            </a:r>
            <a:r>
              <a:rPr sz="3300" spc="-315" dirty="0">
                <a:latin typeface="Calibri"/>
                <a:cs typeface="Calibri"/>
              </a:rPr>
              <a:t>how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sz="3300" spc="110" dirty="0">
                <a:latin typeface="Calibri"/>
                <a:cs typeface="Calibri"/>
              </a:rPr>
              <a:t>a</a:t>
            </a:r>
            <a:r>
              <a:rPr sz="3300" spc="-225" dirty="0">
                <a:latin typeface="Calibri"/>
                <a:cs typeface="Calibri"/>
              </a:rPr>
              <a:t> </a:t>
            </a:r>
            <a:r>
              <a:rPr sz="3300" spc="-125" dirty="0">
                <a:latin typeface="Calibri"/>
                <a:cs typeface="Calibri"/>
              </a:rPr>
              <a:t>ship's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diagonal</a:t>
            </a:r>
            <a:endParaRPr sz="3300" dirty="0">
              <a:latin typeface="Calibri"/>
              <a:cs typeface="Calibri"/>
            </a:endParaRPr>
          </a:p>
          <a:p>
            <a:pPr marL="351790">
              <a:lnSpc>
                <a:spcPts val="3279"/>
              </a:lnSpc>
            </a:pPr>
            <a:r>
              <a:rPr sz="3200" spc="-114" dirty="0">
                <a:latin typeface="Calibri"/>
                <a:cs typeface="Calibri"/>
              </a:rPr>
              <a:t>signature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propagates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across </a:t>
            </a:r>
            <a:r>
              <a:rPr sz="3200" spc="-90" dirty="0">
                <a:latin typeface="Calibri"/>
                <a:cs typeface="Calibri"/>
              </a:rPr>
              <a:t>channels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60" dirty="0">
                <a:latin typeface="Calibri"/>
                <a:cs typeface="Calibri"/>
              </a:rPr>
              <a:t>over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  <a:p>
            <a:pPr marL="346710" marR="617855" indent="-334645">
              <a:lnSpc>
                <a:spcPts val="3350"/>
              </a:lnSpc>
              <a:spcBef>
                <a:spcPts val="1680"/>
              </a:spcBef>
              <a:buClr>
                <a:srgbClr val="666666"/>
              </a:buClr>
              <a:buChar char="•"/>
              <a:tabLst>
                <a:tab pos="349250" algn="l"/>
              </a:tabLst>
            </a:pPr>
            <a:r>
              <a:rPr sz="3200" b="1" spc="-30" dirty="0">
                <a:latin typeface="Calibri"/>
                <a:cs typeface="Calibri"/>
              </a:rPr>
              <a:t>Potential</a:t>
            </a:r>
            <a:r>
              <a:rPr sz="3200" spc="-30" dirty="0">
                <a:latin typeface="Calibri"/>
                <a:cs typeface="Calibri"/>
              </a:rPr>
              <a:t>: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21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highly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95" dirty="0">
                <a:latin typeface="Calibri"/>
                <a:cs typeface="Calibri"/>
              </a:rPr>
              <a:t>sophisticated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5" dirty="0">
                <a:latin typeface="Calibri"/>
                <a:cs typeface="Calibri"/>
              </a:rPr>
              <a:t>method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 	</a:t>
            </a:r>
            <a:r>
              <a:rPr sz="3250" spc="-130" dirty="0">
                <a:latin typeface="Calibri"/>
                <a:cs typeface="Calibri"/>
              </a:rPr>
              <a:t>capturing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60" dirty="0">
                <a:latin typeface="Calibri"/>
                <a:cs typeface="Calibri"/>
              </a:rPr>
              <a:t>the</a:t>
            </a:r>
            <a:r>
              <a:rPr sz="3250" spc="-100" dirty="0">
                <a:latin typeface="Calibri"/>
                <a:cs typeface="Calibri"/>
              </a:rPr>
              <a:t> </a:t>
            </a:r>
            <a:r>
              <a:rPr sz="3250" spc="-70" dirty="0">
                <a:latin typeface="Calibri"/>
                <a:cs typeface="Calibri"/>
              </a:rPr>
              <a:t>specific</a:t>
            </a:r>
            <a:r>
              <a:rPr sz="3250" spc="-50" dirty="0">
                <a:latin typeface="Calibri"/>
                <a:cs typeface="Calibri"/>
              </a:rPr>
              <a:t> spatiotemporal 	</a:t>
            </a:r>
            <a:r>
              <a:rPr sz="3300" spc="-150" dirty="0">
                <a:latin typeface="Calibri"/>
                <a:cs typeface="Calibri"/>
              </a:rPr>
              <a:t>patterns</a:t>
            </a:r>
            <a:r>
              <a:rPr sz="3300" spc="10" dirty="0">
                <a:latin typeface="Calibri"/>
                <a:cs typeface="Calibri"/>
              </a:rPr>
              <a:t> </a:t>
            </a:r>
            <a:r>
              <a:rPr sz="3300" spc="-265" dirty="0">
                <a:latin typeface="Calibri"/>
                <a:cs typeface="Calibri"/>
              </a:rPr>
              <a:t>of</a:t>
            </a:r>
            <a:r>
              <a:rPr sz="3300" spc="8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vessels.</a:t>
            </a:r>
            <a:endParaRPr sz="3300" dirty="0">
              <a:latin typeface="Calibri"/>
              <a:cs typeface="Calibri"/>
            </a:endParaRPr>
          </a:p>
          <a:p>
            <a:pPr marL="349250" marR="530225" indent="-337185">
              <a:lnSpc>
                <a:spcPct val="85500"/>
              </a:lnSpc>
              <a:spcBef>
                <a:spcPts val="1689"/>
              </a:spcBef>
              <a:buClr>
                <a:srgbClr val="646464"/>
              </a:buClr>
              <a:buChar char="•"/>
              <a:tabLst>
                <a:tab pos="349250" algn="l"/>
              </a:tabLst>
            </a:pPr>
            <a:r>
              <a:rPr sz="3200" b="1" spc="-35" dirty="0">
                <a:latin typeface="Calibri"/>
                <a:cs typeface="Calibri"/>
              </a:rPr>
              <a:t>Constraint: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This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25" dirty="0">
                <a:latin typeface="Calibri"/>
                <a:cs typeface="Calibri"/>
              </a:rPr>
              <a:t>approach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requires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massive, </a:t>
            </a:r>
            <a:r>
              <a:rPr sz="3200" spc="-130" dirty="0">
                <a:latin typeface="Calibri"/>
                <a:cs typeface="Calibri"/>
              </a:rPr>
              <a:t>long-</a:t>
            </a:r>
            <a:r>
              <a:rPr sz="3200" spc="-100" dirty="0">
                <a:latin typeface="Calibri"/>
                <a:cs typeface="Calibri"/>
              </a:rPr>
              <a:t>term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20" dirty="0">
                <a:latin typeface="Calibri"/>
                <a:cs typeface="Calibri"/>
              </a:rPr>
              <a:t>training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data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75" dirty="0">
                <a:latin typeface="Calibri"/>
                <a:cs typeface="Calibri"/>
              </a:rPr>
              <a:t>(e.g.,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15" dirty="0">
                <a:latin typeface="Calibri"/>
                <a:cs typeface="Calibri"/>
              </a:rPr>
              <a:t>two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05" dirty="0">
                <a:latin typeface="Calibri"/>
                <a:cs typeface="Calibri"/>
              </a:rPr>
              <a:t>years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in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300" spc="-180" dirty="0">
                <a:latin typeface="Calibri"/>
                <a:cs typeface="Calibri"/>
              </a:rPr>
              <a:t>reference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spc="-150" dirty="0">
                <a:latin typeface="Calibri"/>
                <a:cs typeface="Calibri"/>
              </a:rPr>
              <a:t>study)</a:t>
            </a:r>
            <a:r>
              <a:rPr sz="3300" dirty="0">
                <a:latin typeface="Calibri"/>
                <a:cs typeface="Calibri"/>
              </a:rPr>
              <a:t> </a:t>
            </a:r>
            <a:r>
              <a:rPr sz="3300" spc="-225" dirty="0">
                <a:latin typeface="Calibri"/>
                <a:cs typeface="Calibri"/>
              </a:rPr>
              <a:t>to</a:t>
            </a:r>
            <a:r>
              <a:rPr sz="3300" spc="-55" dirty="0">
                <a:latin typeface="Calibri"/>
                <a:cs typeface="Calibri"/>
              </a:rPr>
              <a:t> </a:t>
            </a:r>
            <a:r>
              <a:rPr sz="3300" spc="-210" dirty="0">
                <a:latin typeface="Calibri"/>
                <a:cs typeface="Calibri"/>
              </a:rPr>
              <a:t>be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sz="3300" spc="-150" dirty="0">
                <a:latin typeface="Calibri"/>
                <a:cs typeface="Calibri"/>
              </a:rPr>
              <a:t>effective.</a:t>
            </a:r>
            <a:r>
              <a:rPr sz="3300" spc="114" dirty="0">
                <a:latin typeface="Calibri"/>
                <a:cs typeface="Calibri"/>
              </a:rPr>
              <a:t> </a:t>
            </a:r>
            <a:r>
              <a:rPr sz="3300" spc="-135" dirty="0">
                <a:latin typeface="Calibri"/>
                <a:cs typeface="Calibri"/>
              </a:rPr>
              <a:t>This</a:t>
            </a:r>
            <a:r>
              <a:rPr sz="3300" spc="-65" dirty="0">
                <a:latin typeface="Calibri"/>
                <a:cs typeface="Calibri"/>
              </a:rPr>
              <a:t> </a:t>
            </a:r>
            <a:r>
              <a:rPr sz="3300" spc="-25" dirty="0">
                <a:latin typeface="Calibri"/>
                <a:cs typeface="Calibri"/>
              </a:rPr>
              <a:t>was </a:t>
            </a:r>
            <a:r>
              <a:rPr sz="3250" spc="-105" dirty="0">
                <a:latin typeface="Calibri"/>
                <a:cs typeface="Calibri"/>
              </a:rPr>
              <a:t>unfeasible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185" dirty="0">
                <a:latin typeface="Calibri"/>
                <a:cs typeface="Calibri"/>
              </a:rPr>
              <a:t>for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210" dirty="0">
                <a:latin typeface="Calibri"/>
                <a:cs typeface="Calibri"/>
              </a:rPr>
              <a:t>our</a:t>
            </a:r>
            <a:r>
              <a:rPr sz="3250" spc="-114" dirty="0">
                <a:latin typeface="Calibri"/>
                <a:cs typeface="Calibri"/>
              </a:rPr>
              <a:t> </a:t>
            </a:r>
            <a:r>
              <a:rPr sz="3250" spc="-125" dirty="0">
                <a:latin typeface="Calibri"/>
                <a:cs typeface="Calibri"/>
              </a:rPr>
              <a:t>proof-</a:t>
            </a:r>
            <a:r>
              <a:rPr sz="3250" spc="-110" dirty="0">
                <a:latin typeface="Calibri"/>
                <a:cs typeface="Calibri"/>
              </a:rPr>
              <a:t>of-</a:t>
            </a:r>
            <a:r>
              <a:rPr sz="3250" spc="-120" dirty="0">
                <a:latin typeface="Calibri"/>
                <a:cs typeface="Calibri"/>
              </a:rPr>
              <a:t>concept</a:t>
            </a:r>
            <a:r>
              <a:rPr sz="3250" spc="-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scope.</a:t>
            </a:r>
            <a:endParaRPr sz="3250" dirty="0">
              <a:latin typeface="Calibri"/>
              <a:cs typeface="Calibri"/>
            </a:endParaRPr>
          </a:p>
        </p:txBody>
      </p:sp>
      <p:pic>
        <p:nvPicPr>
          <p:cNvPr id="17" name="Picture 16" descr="A diagram of a line of dots&#10;&#10;AI-generated content may be incorrect.">
            <a:extLst>
              <a:ext uri="{FF2B5EF4-FFF2-40B4-BE49-F238E27FC236}">
                <a16:creationId xmlns:a16="http://schemas.microsoft.com/office/drawing/2014/main" id="{DD1C3244-E12A-EF3B-4743-6E179D48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2209800"/>
            <a:ext cx="6248400" cy="63731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4200" y="689327"/>
            <a:ext cx="8686800" cy="1647887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 indent="-635">
              <a:lnSpc>
                <a:spcPts val="6050"/>
              </a:lnSpc>
              <a:spcBef>
                <a:spcPts val="650"/>
              </a:spcBef>
            </a:pPr>
            <a:r>
              <a:rPr sz="5400" b="1" spc="-300" dirty="0">
                <a:solidFill>
                  <a:srgbClr val="111111"/>
                </a:solidFill>
              </a:rPr>
              <a:t>Explored</a:t>
            </a:r>
            <a:r>
              <a:rPr sz="5400" b="1" spc="-200" dirty="0">
                <a:solidFill>
                  <a:srgbClr val="111111"/>
                </a:solidFill>
              </a:rPr>
              <a:t> </a:t>
            </a:r>
            <a:r>
              <a:rPr sz="5400" b="1" spc="-340" dirty="0">
                <a:solidFill>
                  <a:srgbClr val="071531"/>
                </a:solidFill>
              </a:rPr>
              <a:t>Path</a:t>
            </a:r>
            <a:r>
              <a:rPr sz="5400" b="1" spc="-225" dirty="0">
                <a:solidFill>
                  <a:srgbClr val="071531"/>
                </a:solidFill>
              </a:rPr>
              <a:t> </a:t>
            </a:r>
            <a:r>
              <a:rPr sz="5400" b="1" spc="-25" dirty="0">
                <a:solidFill>
                  <a:srgbClr val="030E21"/>
                </a:solidFill>
              </a:rPr>
              <a:t>#2: </a:t>
            </a:r>
            <a:r>
              <a:rPr sz="5400" b="1" spc="-335" dirty="0">
                <a:solidFill>
                  <a:srgbClr val="0F1A33"/>
                </a:solidFill>
              </a:rPr>
              <a:t>Unsupervised</a:t>
            </a:r>
            <a:r>
              <a:rPr sz="5400" b="1" spc="300" dirty="0">
                <a:solidFill>
                  <a:srgbClr val="0F1A33"/>
                </a:solidFill>
              </a:rPr>
              <a:t> </a:t>
            </a:r>
            <a:r>
              <a:rPr sz="5400" b="1" spc="-345" dirty="0">
                <a:solidFill>
                  <a:srgbClr val="030E21"/>
                </a:solidFill>
              </a:rPr>
              <a:t>Autoencoders</a:t>
            </a:r>
            <a:endParaRPr sz="5400" b="1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936345" y="2600677"/>
            <a:ext cx="7740015" cy="415908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427355" marR="5080" indent="-415290">
              <a:lnSpc>
                <a:spcPct val="79700"/>
              </a:lnSpc>
              <a:spcBef>
                <a:spcPts val="960"/>
              </a:spcBef>
              <a:buClr>
                <a:srgbClr val="5D5D5D"/>
              </a:buClr>
              <a:buChar char="•"/>
              <a:tabLst>
                <a:tab pos="427355" algn="l"/>
              </a:tabLst>
            </a:pPr>
            <a:r>
              <a:rPr b="1" spc="-175" dirty="0"/>
              <a:t>Concept:</a:t>
            </a:r>
            <a:r>
              <a:rPr b="1" spc="65" dirty="0"/>
              <a:t> </a:t>
            </a:r>
            <a:r>
              <a:rPr spc="-254" dirty="0"/>
              <a:t>Train</a:t>
            </a:r>
            <a:r>
              <a:rPr spc="-60" dirty="0"/>
              <a:t> </a:t>
            </a:r>
            <a:r>
              <a:rPr dirty="0"/>
              <a:t>a</a:t>
            </a:r>
            <a:r>
              <a:rPr spc="-370" dirty="0"/>
              <a:t> </a:t>
            </a:r>
            <a:r>
              <a:rPr spc="-254" dirty="0"/>
              <a:t>model</a:t>
            </a:r>
            <a:r>
              <a:rPr spc="-120" dirty="0"/>
              <a:t> </a:t>
            </a:r>
            <a:r>
              <a:rPr spc="-250" dirty="0"/>
              <a:t>(an</a:t>
            </a:r>
            <a:r>
              <a:rPr spc="-110" dirty="0"/>
              <a:t> </a:t>
            </a:r>
            <a:r>
              <a:rPr spc="-285" dirty="0"/>
              <a:t>autoencoder) </a:t>
            </a:r>
            <a:r>
              <a:rPr spc="-190" dirty="0"/>
              <a:t>exclusively</a:t>
            </a:r>
            <a:r>
              <a:rPr spc="120" dirty="0"/>
              <a:t> </a:t>
            </a:r>
            <a:r>
              <a:rPr spc="-295" dirty="0"/>
              <a:t>on</a:t>
            </a:r>
            <a:r>
              <a:rPr spc="-260" dirty="0"/>
              <a:t> </a:t>
            </a:r>
            <a:r>
              <a:rPr spc="-254" dirty="0"/>
              <a:t>background</a:t>
            </a:r>
            <a:r>
              <a:rPr spc="45" dirty="0"/>
              <a:t> </a:t>
            </a:r>
            <a:r>
              <a:rPr spc="-220" dirty="0"/>
              <a:t>noise.</a:t>
            </a:r>
            <a:r>
              <a:rPr spc="5" dirty="0"/>
              <a:t> </a:t>
            </a:r>
            <a:r>
              <a:rPr spc="-265" dirty="0"/>
              <a:t>The</a:t>
            </a:r>
            <a:r>
              <a:rPr spc="-170" dirty="0"/>
              <a:t> </a:t>
            </a:r>
            <a:r>
              <a:rPr spc="-10" dirty="0"/>
              <a:t>model </a:t>
            </a:r>
            <a:r>
              <a:rPr spc="-204" dirty="0"/>
              <a:t>learns</a:t>
            </a:r>
            <a:r>
              <a:rPr spc="40" dirty="0"/>
              <a:t> </a:t>
            </a:r>
            <a:r>
              <a:rPr spc="-290" dirty="0"/>
              <a:t>to</a:t>
            </a:r>
            <a:r>
              <a:rPr spc="-210" dirty="0"/>
              <a:t> </a:t>
            </a:r>
            <a:r>
              <a:rPr spc="-225" dirty="0"/>
              <a:t>perfectly</a:t>
            </a:r>
            <a:r>
              <a:rPr spc="85" dirty="0"/>
              <a:t> </a:t>
            </a:r>
            <a:r>
              <a:rPr spc="-235" dirty="0"/>
              <a:t>reconstruct</a:t>
            </a:r>
            <a:r>
              <a:rPr spc="125" dirty="0"/>
              <a:t> </a:t>
            </a:r>
            <a:r>
              <a:rPr spc="-265" dirty="0"/>
              <a:t>“normal”</a:t>
            </a:r>
            <a:r>
              <a:rPr spc="70" dirty="0"/>
              <a:t> </a:t>
            </a:r>
            <a:r>
              <a:rPr spc="-10" dirty="0"/>
              <a:t>data. </a:t>
            </a:r>
            <a:r>
              <a:rPr spc="-254" dirty="0"/>
              <a:t>Anomalies</a:t>
            </a:r>
            <a:r>
              <a:rPr spc="80" dirty="0"/>
              <a:t> </a:t>
            </a:r>
            <a:r>
              <a:rPr spc="-150" dirty="0"/>
              <a:t>like</a:t>
            </a:r>
            <a:r>
              <a:rPr spc="-145" dirty="0"/>
              <a:t> </a:t>
            </a:r>
            <a:r>
              <a:rPr spc="-195" dirty="0"/>
              <a:t>ships</a:t>
            </a:r>
            <a:r>
              <a:rPr spc="-10" dirty="0"/>
              <a:t> </a:t>
            </a:r>
            <a:r>
              <a:rPr spc="-240" dirty="0"/>
              <a:t>are</a:t>
            </a:r>
            <a:r>
              <a:rPr spc="-70" dirty="0"/>
              <a:t> </a:t>
            </a:r>
            <a:r>
              <a:rPr spc="-300" dirty="0"/>
              <a:t>then</a:t>
            </a:r>
            <a:r>
              <a:rPr spc="-30" dirty="0"/>
              <a:t> </a:t>
            </a:r>
            <a:r>
              <a:rPr spc="-254" dirty="0"/>
              <a:t>detected</a:t>
            </a:r>
            <a:r>
              <a:rPr spc="50" dirty="0"/>
              <a:t> </a:t>
            </a:r>
            <a:r>
              <a:rPr spc="-150" dirty="0"/>
              <a:t>because </a:t>
            </a:r>
            <a:r>
              <a:rPr spc="-245" dirty="0"/>
              <a:t>the</a:t>
            </a:r>
            <a:r>
              <a:rPr spc="-190" dirty="0"/>
              <a:t> </a:t>
            </a:r>
            <a:r>
              <a:rPr spc="-254" dirty="0"/>
              <a:t>model</a:t>
            </a:r>
            <a:r>
              <a:rPr spc="-180" dirty="0"/>
              <a:t> </a:t>
            </a:r>
            <a:r>
              <a:rPr spc="-140" dirty="0"/>
              <a:t>fails</a:t>
            </a:r>
            <a:r>
              <a:rPr spc="-170" dirty="0"/>
              <a:t> </a:t>
            </a:r>
            <a:r>
              <a:rPr spc="-250" dirty="0"/>
              <a:t>to</a:t>
            </a:r>
            <a:r>
              <a:rPr spc="-200" dirty="0"/>
              <a:t> </a:t>
            </a:r>
            <a:r>
              <a:rPr spc="-229" dirty="0"/>
              <a:t>reconstruct</a:t>
            </a:r>
            <a:r>
              <a:rPr spc="160" dirty="0"/>
              <a:t> </a:t>
            </a:r>
            <a:r>
              <a:rPr spc="-320" dirty="0"/>
              <a:t>them</a:t>
            </a:r>
            <a:r>
              <a:rPr spc="-195" dirty="0"/>
              <a:t> </a:t>
            </a:r>
            <a:r>
              <a:rPr spc="-100" dirty="0"/>
              <a:t>accurately, </a:t>
            </a:r>
            <a:r>
              <a:rPr spc="-215" dirty="0"/>
              <a:t>resulting</a:t>
            </a:r>
            <a:r>
              <a:rPr spc="20" dirty="0"/>
              <a:t> </a:t>
            </a:r>
            <a:r>
              <a:rPr spc="-175" dirty="0"/>
              <a:t>in</a:t>
            </a:r>
            <a:r>
              <a:rPr spc="-165" dirty="0"/>
              <a:t> </a:t>
            </a:r>
            <a:r>
              <a:rPr dirty="0"/>
              <a:t>a</a:t>
            </a:r>
            <a:r>
              <a:rPr spc="-360" dirty="0"/>
              <a:t> </a:t>
            </a:r>
            <a:r>
              <a:rPr spc="-254" dirty="0"/>
              <a:t>high</a:t>
            </a:r>
            <a:r>
              <a:rPr spc="-120" dirty="0"/>
              <a:t> </a:t>
            </a:r>
            <a:r>
              <a:rPr spc="-210" dirty="0"/>
              <a:t>“reconstruction</a:t>
            </a:r>
            <a:r>
              <a:rPr spc="-225" dirty="0"/>
              <a:t> </a:t>
            </a:r>
            <a:r>
              <a:rPr spc="-300" dirty="0"/>
              <a:t>error.”</a:t>
            </a:r>
          </a:p>
          <a:p>
            <a:pPr marL="431165" marR="785495" indent="-397510">
              <a:lnSpc>
                <a:spcPts val="3350"/>
              </a:lnSpc>
              <a:spcBef>
                <a:spcPts val="1430"/>
              </a:spcBef>
              <a:buClr>
                <a:srgbClr val="5B5B5B"/>
              </a:buClr>
              <a:buChar char="•"/>
              <a:tabLst>
                <a:tab pos="434340" algn="l"/>
              </a:tabLst>
            </a:pPr>
            <a:r>
              <a:rPr sz="2950" b="1" dirty="0">
                <a:latin typeface="Arial MT"/>
                <a:cs typeface="Arial MT"/>
              </a:rPr>
              <a:t>Potential</a:t>
            </a:r>
            <a:r>
              <a:rPr sz="2950" dirty="0">
                <a:latin typeface="Arial MT"/>
                <a:cs typeface="Arial MT"/>
              </a:rPr>
              <a:t>: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spc="-415" dirty="0">
                <a:latin typeface="Arial MT"/>
                <a:cs typeface="Arial MT"/>
              </a:rPr>
              <a:t>A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-65" dirty="0">
                <a:latin typeface="Arial MT"/>
                <a:cs typeface="Arial MT"/>
              </a:rPr>
              <a:t>powerful,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label-</a:t>
            </a:r>
            <a:r>
              <a:rPr sz="2950" spc="-45" dirty="0">
                <a:latin typeface="Arial MT"/>
                <a:cs typeface="Arial MT"/>
              </a:rPr>
              <a:t>free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70" dirty="0">
                <a:latin typeface="Arial MT"/>
                <a:cs typeface="Arial MT"/>
              </a:rPr>
              <a:t>detection </a:t>
            </a:r>
            <a:r>
              <a:rPr sz="2900" spc="-70" dirty="0">
                <a:latin typeface="Arial MT"/>
                <a:cs typeface="Arial MT"/>
              </a:rPr>
              <a:t>method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that</a:t>
            </a:r>
            <a:r>
              <a:rPr sz="2900" spc="-180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could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discover</a:t>
            </a:r>
            <a:r>
              <a:rPr sz="2900" spc="15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novel</a:t>
            </a:r>
            <a:r>
              <a:rPr sz="2900" spc="-220" dirty="0">
                <a:latin typeface="Arial MT"/>
                <a:cs typeface="Arial MT"/>
              </a:rPr>
              <a:t> </a:t>
            </a:r>
            <a:r>
              <a:rPr sz="2900" spc="-85" dirty="0">
                <a:latin typeface="Arial MT"/>
                <a:cs typeface="Arial MT"/>
              </a:rPr>
              <a:t>types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35" dirty="0">
                <a:latin typeface="Arial MT"/>
                <a:cs typeface="Arial MT"/>
              </a:rPr>
              <a:t>of 	</a:t>
            </a:r>
            <a:r>
              <a:rPr sz="2900" spc="-105" dirty="0">
                <a:latin typeface="Arial MT"/>
                <a:cs typeface="Arial MT"/>
              </a:rPr>
              <a:t>anomalies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automatically.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45" y="6791677"/>
            <a:ext cx="7614920" cy="18326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440055" marR="5080" indent="-427990">
              <a:lnSpc>
                <a:spcPct val="79700"/>
              </a:lnSpc>
              <a:spcBef>
                <a:spcPts val="960"/>
              </a:spcBef>
              <a:buClr>
                <a:srgbClr val="595959"/>
              </a:buClr>
              <a:buChar char="•"/>
              <a:tabLst>
                <a:tab pos="440055" algn="l"/>
              </a:tabLst>
            </a:pPr>
            <a:r>
              <a:rPr sz="3450" b="1" spc="-140" dirty="0">
                <a:latin typeface="Calibri"/>
                <a:cs typeface="Calibri"/>
              </a:rPr>
              <a:t>Constraint:</a:t>
            </a:r>
            <a:r>
              <a:rPr sz="3450" b="1" spc="20" dirty="0">
                <a:latin typeface="Calibri"/>
                <a:cs typeface="Calibri"/>
              </a:rPr>
              <a:t> </a:t>
            </a:r>
            <a:r>
              <a:rPr sz="3450" spc="-200" dirty="0">
                <a:latin typeface="Calibri"/>
                <a:cs typeface="Calibri"/>
              </a:rPr>
              <a:t>Like</a:t>
            </a:r>
            <a:r>
              <a:rPr sz="3450" spc="-25" dirty="0">
                <a:latin typeface="Calibri"/>
                <a:cs typeface="Calibri"/>
              </a:rPr>
              <a:t> </a:t>
            </a:r>
            <a:r>
              <a:rPr sz="3450" spc="-270" dirty="0">
                <a:latin typeface="Calibri"/>
                <a:cs typeface="Calibri"/>
              </a:rPr>
              <a:t>the</a:t>
            </a:r>
            <a:r>
              <a:rPr sz="3450" spc="-25" dirty="0">
                <a:latin typeface="Calibri"/>
                <a:cs typeface="Calibri"/>
              </a:rPr>
              <a:t> </a:t>
            </a:r>
            <a:r>
              <a:rPr sz="3450" spc="-265" dirty="0">
                <a:latin typeface="Calibri"/>
                <a:cs typeface="Calibri"/>
              </a:rPr>
              <a:t>graph</a:t>
            </a:r>
            <a:r>
              <a:rPr sz="3450" spc="-100" dirty="0">
                <a:latin typeface="Calibri"/>
                <a:cs typeface="Calibri"/>
              </a:rPr>
              <a:t> </a:t>
            </a:r>
            <a:r>
              <a:rPr sz="3450" spc="-265" dirty="0">
                <a:latin typeface="Calibri"/>
                <a:cs typeface="Calibri"/>
              </a:rPr>
              <a:t>model,</a:t>
            </a:r>
            <a:r>
              <a:rPr sz="3450" spc="-20" dirty="0">
                <a:latin typeface="Calibri"/>
                <a:cs typeface="Calibri"/>
              </a:rPr>
              <a:t> </a:t>
            </a:r>
            <a:r>
              <a:rPr sz="3450" spc="-195" dirty="0">
                <a:latin typeface="Calibri"/>
                <a:cs typeface="Calibri"/>
              </a:rPr>
              <a:t>this</a:t>
            </a:r>
            <a:r>
              <a:rPr sz="3450" spc="-55" dirty="0">
                <a:latin typeface="Calibri"/>
                <a:cs typeface="Calibri"/>
              </a:rPr>
              <a:t> </a:t>
            </a:r>
            <a:r>
              <a:rPr sz="3450" spc="-265" dirty="0">
                <a:latin typeface="Calibri"/>
                <a:cs typeface="Calibri"/>
              </a:rPr>
              <a:t>requires </a:t>
            </a:r>
            <a:r>
              <a:rPr sz="3450" spc="-210" dirty="0">
                <a:latin typeface="Calibri"/>
                <a:cs typeface="Calibri"/>
              </a:rPr>
              <a:t>vast</a:t>
            </a:r>
            <a:r>
              <a:rPr sz="3450" spc="-95" dirty="0">
                <a:latin typeface="Calibri"/>
                <a:cs typeface="Calibri"/>
              </a:rPr>
              <a:t> </a:t>
            </a:r>
            <a:r>
              <a:rPr sz="3450" spc="-270" dirty="0">
                <a:latin typeface="Calibri"/>
                <a:cs typeface="Calibri"/>
              </a:rPr>
              <a:t>amounts</a:t>
            </a:r>
            <a:r>
              <a:rPr sz="3450" spc="-25" dirty="0">
                <a:latin typeface="Calibri"/>
                <a:cs typeface="Calibri"/>
              </a:rPr>
              <a:t> </a:t>
            </a:r>
            <a:r>
              <a:rPr sz="3450" spc="-280" dirty="0">
                <a:latin typeface="Calibri"/>
                <a:cs typeface="Calibri"/>
              </a:rPr>
              <a:t>of</a:t>
            </a:r>
            <a:r>
              <a:rPr sz="3450" spc="-80" dirty="0">
                <a:latin typeface="Calibri"/>
                <a:cs typeface="Calibri"/>
              </a:rPr>
              <a:t> </a:t>
            </a:r>
            <a:r>
              <a:rPr sz="3450" spc="-280" dirty="0">
                <a:latin typeface="Calibri"/>
                <a:cs typeface="Calibri"/>
              </a:rPr>
              <a:t>“pure</a:t>
            </a:r>
            <a:r>
              <a:rPr sz="3450" spc="50" dirty="0">
                <a:latin typeface="Calibri"/>
                <a:cs typeface="Calibri"/>
              </a:rPr>
              <a:t> </a:t>
            </a:r>
            <a:r>
              <a:rPr sz="3450" spc="-235" dirty="0">
                <a:latin typeface="Calibri"/>
                <a:cs typeface="Calibri"/>
              </a:rPr>
              <a:t>noise”</a:t>
            </a:r>
            <a:r>
              <a:rPr sz="3450" spc="5" dirty="0">
                <a:latin typeface="Calibri"/>
                <a:cs typeface="Calibri"/>
              </a:rPr>
              <a:t> </a:t>
            </a:r>
            <a:r>
              <a:rPr sz="3450" spc="-195" dirty="0">
                <a:latin typeface="Calibri"/>
                <a:cs typeface="Calibri"/>
              </a:rPr>
              <a:t>data</a:t>
            </a:r>
            <a:r>
              <a:rPr sz="3450" spc="-315" dirty="0">
                <a:latin typeface="Calibri"/>
                <a:cs typeface="Calibri"/>
              </a:rPr>
              <a:t> </a:t>
            </a:r>
            <a:r>
              <a:rPr sz="3450" spc="-280" dirty="0">
                <a:latin typeface="Calibri"/>
                <a:cs typeface="Calibri"/>
              </a:rPr>
              <a:t>and </a:t>
            </a:r>
            <a:r>
              <a:rPr sz="3450" spc="-210" dirty="0">
                <a:latin typeface="Calibri"/>
                <a:cs typeface="Calibri"/>
              </a:rPr>
              <a:t>signihcant</a:t>
            </a:r>
            <a:r>
              <a:rPr sz="3450" spc="60" dirty="0">
                <a:latin typeface="Calibri"/>
                <a:cs typeface="Calibri"/>
              </a:rPr>
              <a:t> </a:t>
            </a:r>
            <a:r>
              <a:rPr sz="3450" spc="-260" dirty="0">
                <a:latin typeface="Calibri"/>
                <a:cs typeface="Calibri"/>
              </a:rPr>
              <a:t>computational</a:t>
            </a:r>
            <a:r>
              <a:rPr sz="3450" spc="65" dirty="0">
                <a:latin typeface="Calibri"/>
                <a:cs typeface="Calibri"/>
              </a:rPr>
              <a:t> </a:t>
            </a:r>
            <a:r>
              <a:rPr sz="3450" spc="-220" dirty="0">
                <a:latin typeface="Calibri"/>
                <a:cs typeface="Calibri"/>
              </a:rPr>
              <a:t>resources</a:t>
            </a:r>
            <a:r>
              <a:rPr sz="3450" spc="114" dirty="0">
                <a:latin typeface="Calibri"/>
                <a:cs typeface="Calibri"/>
              </a:rPr>
              <a:t> </a:t>
            </a:r>
            <a:r>
              <a:rPr sz="3450" spc="-290" dirty="0">
                <a:latin typeface="Calibri"/>
                <a:cs typeface="Calibri"/>
              </a:rPr>
              <a:t>for </a:t>
            </a:r>
            <a:r>
              <a:rPr sz="3450" spc="-120" dirty="0">
                <a:latin typeface="Calibri"/>
                <a:cs typeface="Calibri"/>
              </a:rPr>
              <a:t>training.</a:t>
            </a:r>
            <a:endParaRPr sz="3450" dirty="0">
              <a:latin typeface="Calibri"/>
              <a:cs typeface="Calibri"/>
            </a:endParaRPr>
          </a:p>
        </p:txBody>
      </p:sp>
      <p:pic>
        <p:nvPicPr>
          <p:cNvPr id="16" name="Picture 15" descr="A diagram of a barcode&#10;&#10;AI-generated content may be incorrect.">
            <a:extLst>
              <a:ext uri="{FF2B5EF4-FFF2-40B4-BE49-F238E27FC236}">
                <a16:creationId xmlns:a16="http://schemas.microsoft.com/office/drawing/2014/main" id="{E24D6D43-72E4-218A-855A-4D886E8A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600" y="2209800"/>
            <a:ext cx="6456071" cy="66769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05203" y="796924"/>
            <a:ext cx="14808835" cy="17395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600" b="1" dirty="0">
                <a:solidFill>
                  <a:srgbClr val="081833"/>
                </a:solidFill>
                <a:latin typeface="Calibri"/>
                <a:cs typeface="Calibri"/>
              </a:rPr>
              <a:t>Future</a:t>
            </a:r>
            <a:r>
              <a:rPr sz="5600" b="1" spc="-320" dirty="0">
                <a:solidFill>
                  <a:srgbClr val="081833"/>
                </a:solidFill>
                <a:latin typeface="Calibri"/>
                <a:cs typeface="Calibri"/>
              </a:rPr>
              <a:t> </a:t>
            </a:r>
            <a:r>
              <a:rPr sz="5600" b="1" spc="-120" dirty="0">
                <a:solidFill>
                  <a:srgbClr val="051C3D"/>
                </a:solidFill>
                <a:latin typeface="Calibri"/>
                <a:cs typeface="Calibri"/>
              </a:rPr>
              <a:t>Models</a:t>
            </a:r>
            <a:r>
              <a:rPr sz="5600" b="1" spc="-195" dirty="0">
                <a:solidFill>
                  <a:srgbClr val="051C3D"/>
                </a:solidFill>
                <a:latin typeface="Calibri"/>
                <a:cs typeface="Calibri"/>
              </a:rPr>
              <a:t> </a:t>
            </a:r>
            <a:r>
              <a:rPr sz="5600" b="1" spc="-170" dirty="0">
                <a:solidFill>
                  <a:srgbClr val="081A3B"/>
                </a:solidFill>
                <a:latin typeface="Calibri"/>
                <a:cs typeface="Calibri"/>
              </a:rPr>
              <a:t>Must</a:t>
            </a:r>
            <a:r>
              <a:rPr sz="5600" b="1" spc="-145" dirty="0">
                <a:solidFill>
                  <a:srgbClr val="081A3B"/>
                </a:solidFill>
                <a:latin typeface="Calibri"/>
                <a:cs typeface="Calibri"/>
              </a:rPr>
              <a:t> </a:t>
            </a:r>
            <a:r>
              <a:rPr sz="5600" b="1" dirty="0">
                <a:solidFill>
                  <a:srgbClr val="071A3B"/>
                </a:solidFill>
                <a:latin typeface="Calibri"/>
                <a:cs typeface="Calibri"/>
              </a:rPr>
              <a:t>Evolve</a:t>
            </a:r>
            <a:r>
              <a:rPr sz="5600" b="1" spc="-145" dirty="0">
                <a:solidFill>
                  <a:srgbClr val="071A3B"/>
                </a:solidFill>
                <a:latin typeface="Calibri"/>
                <a:cs typeface="Calibri"/>
              </a:rPr>
              <a:t> </a:t>
            </a:r>
            <a:r>
              <a:rPr sz="5600" b="1" spc="-180" dirty="0">
                <a:solidFill>
                  <a:srgbClr val="0C1C36"/>
                </a:solidFill>
                <a:latin typeface="Calibri"/>
                <a:cs typeface="Calibri"/>
              </a:rPr>
              <a:t>to</a:t>
            </a:r>
            <a:r>
              <a:rPr sz="5600" b="1" spc="-254" dirty="0">
                <a:solidFill>
                  <a:srgbClr val="0C1C36"/>
                </a:solidFill>
                <a:latin typeface="Calibri"/>
                <a:cs typeface="Calibri"/>
              </a:rPr>
              <a:t> </a:t>
            </a:r>
            <a:r>
              <a:rPr sz="5600" b="1" spc="-30" dirty="0">
                <a:solidFill>
                  <a:srgbClr val="0A1836"/>
                </a:solidFill>
                <a:latin typeface="Calibri"/>
                <a:cs typeface="Calibri"/>
              </a:rPr>
              <a:t>Understand</a:t>
            </a:r>
            <a:r>
              <a:rPr sz="5600" b="1" spc="295" dirty="0">
                <a:solidFill>
                  <a:srgbClr val="0A1836"/>
                </a:solidFill>
                <a:latin typeface="Calibri"/>
                <a:cs typeface="Calibri"/>
              </a:rPr>
              <a:t> </a:t>
            </a:r>
            <a:r>
              <a:rPr sz="5600" b="1" spc="-40" dirty="0">
                <a:solidFill>
                  <a:srgbClr val="0C1A3B"/>
                </a:solidFill>
                <a:latin typeface="Calibri"/>
                <a:cs typeface="Calibri"/>
              </a:rPr>
              <a:t>Time</a:t>
            </a:r>
            <a:r>
              <a:rPr sz="5600" b="1" spc="-280" dirty="0">
                <a:solidFill>
                  <a:srgbClr val="0C1A3B"/>
                </a:solidFill>
                <a:latin typeface="Calibri"/>
                <a:cs typeface="Calibri"/>
              </a:rPr>
              <a:t> </a:t>
            </a:r>
            <a:r>
              <a:rPr sz="5600" b="1" spc="-25" dirty="0">
                <a:solidFill>
                  <a:srgbClr val="05162F"/>
                </a:solidFill>
                <a:latin typeface="Calibri"/>
                <a:cs typeface="Calibri"/>
              </a:rPr>
              <a:t>and</a:t>
            </a:r>
            <a:r>
              <a:rPr lang="en-US" sz="5600" b="1" spc="-25" dirty="0">
                <a:solidFill>
                  <a:srgbClr val="05162F"/>
                </a:solidFill>
                <a:latin typeface="Calibri"/>
                <a:cs typeface="Calibri"/>
              </a:rPr>
              <a:t> context.</a:t>
            </a:r>
            <a:endParaRPr sz="5600" b="1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9551" y="1541991"/>
            <a:ext cx="7383780" cy="61219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5200" dirty="0">
              <a:latin typeface="Arial MT"/>
              <a:cs typeface="Arial MT"/>
            </a:endParaRPr>
          </a:p>
          <a:p>
            <a:pPr marL="506730" marR="768350" indent="-327660">
              <a:lnSpc>
                <a:spcPts val="3750"/>
              </a:lnSpc>
              <a:spcBef>
                <a:spcPts val="3860"/>
              </a:spcBef>
              <a:buChar char="•"/>
              <a:tabLst>
                <a:tab pos="506730" algn="l"/>
                <a:tab pos="518159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600" spc="-180" dirty="0">
                <a:latin typeface="Calibri"/>
                <a:cs typeface="Calibri"/>
              </a:rPr>
              <a:t>Our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95" dirty="0">
                <a:latin typeface="Calibri"/>
                <a:cs typeface="Calibri"/>
              </a:rPr>
              <a:t>CNN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sees</a:t>
            </a:r>
            <a:r>
              <a:rPr sz="3600" spc="-160" dirty="0">
                <a:latin typeface="Calibri"/>
                <a:cs typeface="Calibri"/>
              </a:rPr>
              <a:t> </a:t>
            </a:r>
            <a:r>
              <a:rPr sz="3600" spc="-85" dirty="0">
                <a:latin typeface="Calibri"/>
                <a:cs typeface="Calibri"/>
              </a:rPr>
              <a:t>the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35" dirty="0">
                <a:latin typeface="Calibri"/>
                <a:cs typeface="Calibri"/>
              </a:rPr>
              <a:t>world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14" dirty="0">
                <a:latin typeface="Calibri"/>
                <a:cs typeface="Calibri"/>
              </a:rPr>
              <a:t>in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70" dirty="0">
                <a:latin typeface="Calibri"/>
                <a:cs typeface="Calibri"/>
              </a:rPr>
              <a:t>isolated </a:t>
            </a:r>
            <a:r>
              <a:rPr sz="3650" spc="-95" dirty="0">
                <a:latin typeface="Calibri"/>
                <a:cs typeface="Calibri"/>
              </a:rPr>
              <a:t>30-</a:t>
            </a:r>
            <a:r>
              <a:rPr sz="3650" spc="-40" dirty="0">
                <a:latin typeface="Calibri"/>
                <a:cs typeface="Calibri"/>
              </a:rPr>
              <a:t>second</a:t>
            </a:r>
            <a:r>
              <a:rPr sz="3650" spc="-105" dirty="0">
                <a:latin typeface="Calibri"/>
                <a:cs typeface="Calibri"/>
              </a:rPr>
              <a:t> </a:t>
            </a:r>
            <a:r>
              <a:rPr sz="3650" spc="-100" dirty="0">
                <a:latin typeface="Calibri"/>
                <a:cs typeface="Calibri"/>
              </a:rPr>
              <a:t>snapshots.</a:t>
            </a:r>
            <a:r>
              <a:rPr sz="3650" spc="5" dirty="0"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It</a:t>
            </a:r>
            <a:r>
              <a:rPr sz="3650" spc="85" dirty="0">
                <a:latin typeface="Calibri"/>
                <a:cs typeface="Calibri"/>
              </a:rPr>
              <a:t> </a:t>
            </a:r>
            <a:r>
              <a:rPr sz="3650" spc="-90" dirty="0">
                <a:latin typeface="Calibri"/>
                <a:cs typeface="Calibri"/>
              </a:rPr>
              <a:t>has</a:t>
            </a:r>
            <a:r>
              <a:rPr sz="3650" spc="-120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no </a:t>
            </a:r>
            <a:r>
              <a:rPr sz="3550" spc="-114" dirty="0">
                <a:latin typeface="Calibri"/>
                <a:cs typeface="Calibri"/>
              </a:rPr>
              <a:t>memory</a:t>
            </a:r>
            <a:r>
              <a:rPr sz="3550" spc="-80" dirty="0">
                <a:latin typeface="Calibri"/>
                <a:cs typeface="Calibri"/>
              </a:rPr>
              <a:t> </a:t>
            </a:r>
            <a:r>
              <a:rPr sz="3550" spc="-150" dirty="0">
                <a:latin typeface="Calibri"/>
                <a:cs typeface="Calibri"/>
              </a:rPr>
              <a:t>or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100" dirty="0">
                <a:latin typeface="Calibri"/>
                <a:cs typeface="Calibri"/>
              </a:rPr>
              <a:t>long-</a:t>
            </a:r>
            <a:r>
              <a:rPr sz="3550" spc="-70" dirty="0">
                <a:latin typeface="Calibri"/>
                <a:cs typeface="Calibri"/>
              </a:rPr>
              <a:t>term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context.</a:t>
            </a:r>
            <a:endParaRPr sz="3550" dirty="0">
              <a:latin typeface="Calibri"/>
              <a:cs typeface="Calibri"/>
            </a:endParaRPr>
          </a:p>
          <a:p>
            <a:pPr marL="524510" indent="-342900">
              <a:lnSpc>
                <a:spcPts val="3945"/>
              </a:lnSpc>
              <a:spcBef>
                <a:spcPts val="1400"/>
              </a:spcBef>
              <a:buClr>
                <a:srgbClr val="565656"/>
              </a:buClr>
              <a:buChar char="•"/>
              <a:tabLst>
                <a:tab pos="524510" algn="l"/>
              </a:tabLst>
            </a:pPr>
            <a:r>
              <a:rPr sz="3450" b="1" dirty="0">
                <a:latin typeface="Calibri"/>
                <a:cs typeface="Calibri"/>
              </a:rPr>
              <a:t>The</a:t>
            </a:r>
            <a:r>
              <a:rPr sz="3450" b="1" spc="-50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Next</a:t>
            </a:r>
            <a:r>
              <a:rPr sz="3450" b="1" spc="275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Step</a:t>
            </a:r>
            <a:r>
              <a:rPr sz="3450" dirty="0">
                <a:latin typeface="Calibri"/>
                <a:cs typeface="Calibri"/>
              </a:rPr>
              <a:t>:</a:t>
            </a:r>
            <a:r>
              <a:rPr sz="3450" spc="10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Implement</a:t>
            </a:r>
            <a:endParaRPr sz="3450" dirty="0">
              <a:latin typeface="Calibri"/>
              <a:cs typeface="Calibri"/>
            </a:endParaRPr>
          </a:p>
          <a:p>
            <a:pPr marL="511809" marR="284480" indent="-1270">
              <a:lnSpc>
                <a:spcPct val="91400"/>
              </a:lnSpc>
              <a:spcBef>
                <a:spcPts val="160"/>
              </a:spcBef>
            </a:pPr>
            <a:r>
              <a:rPr sz="3400" dirty="0">
                <a:latin typeface="Calibri"/>
                <a:cs typeface="Calibri"/>
              </a:rPr>
              <a:t>sequence-aware</a:t>
            </a:r>
            <a:r>
              <a:rPr sz="3400" spc="-2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architectures</a:t>
            </a:r>
            <a:r>
              <a:rPr sz="3400" spc="380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like </a:t>
            </a:r>
            <a:r>
              <a:rPr sz="3400" dirty="0">
                <a:latin typeface="Calibri"/>
                <a:cs typeface="Calibri"/>
              </a:rPr>
              <a:t>Recurrent</a:t>
            </a:r>
            <a:r>
              <a:rPr sz="3400" spc="-4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Neural</a:t>
            </a:r>
            <a:r>
              <a:rPr sz="3400" spc="-19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Networks</a:t>
            </a:r>
            <a:r>
              <a:rPr sz="3400" spc="4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(RNNs)</a:t>
            </a:r>
            <a:r>
              <a:rPr sz="3400" spc="-35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or </a:t>
            </a:r>
            <a:r>
              <a:rPr sz="3450" spc="-10" dirty="0">
                <a:latin typeface="Calibri"/>
                <a:cs typeface="Calibri"/>
              </a:rPr>
              <a:t>Transformers.</a:t>
            </a:r>
            <a:endParaRPr sz="3450" dirty="0">
              <a:latin typeface="Calibri"/>
              <a:cs typeface="Calibri"/>
            </a:endParaRPr>
          </a:p>
          <a:p>
            <a:pPr marL="511175" indent="-332105">
              <a:lnSpc>
                <a:spcPts val="4065"/>
              </a:lnSpc>
              <a:spcBef>
                <a:spcPts val="1260"/>
              </a:spcBef>
              <a:buClr>
                <a:srgbClr val="595959"/>
              </a:buClr>
              <a:buChar char="•"/>
              <a:tabLst>
                <a:tab pos="511175" algn="l"/>
              </a:tabLst>
            </a:pPr>
            <a:r>
              <a:rPr sz="3650" spc="-80" dirty="0">
                <a:latin typeface="Calibri"/>
                <a:cs typeface="Calibri"/>
              </a:rPr>
              <a:t>These</a:t>
            </a:r>
            <a:r>
              <a:rPr sz="3650" spc="-130" dirty="0">
                <a:latin typeface="Calibri"/>
                <a:cs typeface="Calibri"/>
              </a:rPr>
              <a:t> </a:t>
            </a:r>
            <a:r>
              <a:rPr sz="3650" spc="-135" dirty="0">
                <a:latin typeface="Calibri"/>
                <a:cs typeface="Calibri"/>
              </a:rPr>
              <a:t>models</a:t>
            </a:r>
            <a:r>
              <a:rPr sz="3650" spc="-50" dirty="0">
                <a:latin typeface="Calibri"/>
                <a:cs typeface="Calibri"/>
              </a:rPr>
              <a:t> </a:t>
            </a:r>
            <a:r>
              <a:rPr sz="3650" spc="-105" dirty="0">
                <a:latin typeface="Calibri"/>
                <a:cs typeface="Calibri"/>
              </a:rPr>
              <a:t>analyze</a:t>
            </a:r>
            <a:r>
              <a:rPr sz="3650" spc="-5" dirty="0">
                <a:latin typeface="Calibri"/>
                <a:cs typeface="Calibri"/>
              </a:rPr>
              <a:t> </a:t>
            </a:r>
            <a:r>
              <a:rPr sz="3650" spc="-135" dirty="0">
                <a:latin typeface="Calibri"/>
                <a:cs typeface="Calibri"/>
              </a:rPr>
              <a:t>data</a:t>
            </a:r>
            <a:r>
              <a:rPr sz="3650" spc="-85" dirty="0"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as</a:t>
            </a:r>
            <a:r>
              <a:rPr sz="3650" spc="-165" dirty="0"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a</a:t>
            </a:r>
          </a:p>
          <a:p>
            <a:pPr marL="508000">
              <a:lnSpc>
                <a:spcPts val="4004"/>
              </a:lnSpc>
            </a:pPr>
            <a:r>
              <a:rPr sz="3600" spc="-105" dirty="0">
                <a:latin typeface="Calibri"/>
                <a:cs typeface="Calibri"/>
              </a:rPr>
              <a:t>continuous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75" dirty="0">
                <a:latin typeface="Calibri"/>
                <a:cs typeface="Calibri"/>
              </a:rPr>
              <a:t>sequence,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10" dirty="0">
                <a:latin typeface="Calibri"/>
                <a:cs typeface="Calibri"/>
              </a:rPr>
              <a:t>allowing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45" dirty="0">
                <a:latin typeface="Calibri"/>
                <a:cs typeface="Calibri"/>
              </a:rPr>
              <a:t>them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2775" y="7482769"/>
            <a:ext cx="6781165" cy="1547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ct val="85800"/>
              </a:lnSpc>
              <a:spcBef>
                <a:spcPts val="750"/>
              </a:spcBef>
            </a:pPr>
            <a:r>
              <a:rPr sz="3650" spc="-120" dirty="0">
                <a:latin typeface="Calibri"/>
                <a:cs typeface="Calibri"/>
              </a:rPr>
              <a:t>learn</a:t>
            </a:r>
            <a:r>
              <a:rPr sz="3650" spc="-90" dirty="0">
                <a:latin typeface="Calibri"/>
                <a:cs typeface="Calibri"/>
              </a:rPr>
              <a:t> </a:t>
            </a:r>
            <a:r>
              <a:rPr sz="3650" spc="-40" dirty="0">
                <a:latin typeface="Calibri"/>
                <a:cs typeface="Calibri"/>
              </a:rPr>
              <a:t>vessel</a:t>
            </a:r>
            <a:r>
              <a:rPr sz="3650" spc="-165" dirty="0">
                <a:latin typeface="Calibri"/>
                <a:cs typeface="Calibri"/>
              </a:rPr>
              <a:t> </a:t>
            </a:r>
            <a:r>
              <a:rPr sz="3650" spc="-105" dirty="0">
                <a:latin typeface="Calibri"/>
                <a:cs typeface="Calibri"/>
              </a:rPr>
              <a:t>dynamics</a:t>
            </a:r>
            <a:r>
              <a:rPr sz="3650" spc="-85" dirty="0">
                <a:latin typeface="Calibri"/>
                <a:cs typeface="Calibri"/>
              </a:rPr>
              <a:t> </a:t>
            </a:r>
            <a:r>
              <a:rPr sz="3650" spc="-185" dirty="0">
                <a:latin typeface="Calibri"/>
                <a:cs typeface="Calibri"/>
              </a:rPr>
              <a:t>and</a:t>
            </a:r>
            <a:r>
              <a:rPr sz="3650" spc="-20" dirty="0">
                <a:latin typeface="Calibri"/>
                <a:cs typeface="Calibri"/>
              </a:rPr>
              <a:t> </a:t>
            </a:r>
            <a:r>
              <a:rPr sz="3650" spc="-145" dirty="0">
                <a:latin typeface="Calibri"/>
                <a:cs typeface="Calibri"/>
              </a:rPr>
              <a:t>adapt</a:t>
            </a:r>
            <a:r>
              <a:rPr sz="3650" spc="15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to </a:t>
            </a:r>
            <a:r>
              <a:rPr sz="3600" spc="-100" dirty="0">
                <a:latin typeface="Calibri"/>
                <a:cs typeface="Calibri"/>
              </a:rPr>
              <a:t>evolving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spc="-70" dirty="0">
                <a:latin typeface="Calibri"/>
                <a:cs typeface="Calibri"/>
              </a:rPr>
              <a:t>noise</a:t>
            </a:r>
            <a:r>
              <a:rPr sz="3600" spc="-135" dirty="0">
                <a:latin typeface="Calibri"/>
                <a:cs typeface="Calibri"/>
              </a:rPr>
              <a:t> </a:t>
            </a:r>
            <a:r>
              <a:rPr sz="3600" spc="-114" dirty="0">
                <a:latin typeface="Calibri"/>
                <a:cs typeface="Calibri"/>
              </a:rPr>
              <a:t>patterns</a:t>
            </a:r>
            <a:r>
              <a:rPr sz="3600" spc="15" dirty="0">
                <a:latin typeface="Calibri"/>
                <a:cs typeface="Calibri"/>
              </a:rPr>
              <a:t> </a:t>
            </a:r>
            <a:r>
              <a:rPr sz="3600" spc="-150" dirty="0">
                <a:latin typeface="Calibri"/>
                <a:cs typeface="Calibri"/>
              </a:rPr>
              <a:t>over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100" dirty="0">
                <a:latin typeface="Calibri"/>
                <a:cs typeface="Calibri"/>
              </a:rPr>
              <a:t>hours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60" dirty="0">
                <a:latin typeface="Calibri"/>
                <a:cs typeface="Calibri"/>
              </a:rPr>
              <a:t>and </a:t>
            </a:r>
            <a:r>
              <a:rPr sz="3750" spc="-10" dirty="0">
                <a:latin typeface="Calibri"/>
                <a:cs typeface="Calibri"/>
              </a:rPr>
              <a:t>days.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14" name="Picture 13" descr="A diagram of a diagram of a ship&#10;&#10;AI-generated content may be incorrect.">
            <a:extLst>
              <a:ext uri="{FF2B5EF4-FFF2-40B4-BE49-F238E27FC236}">
                <a16:creationId xmlns:a16="http://schemas.microsoft.com/office/drawing/2014/main" id="{ABA2ED30-465C-3EE6-4A2C-209E3240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450" y="2743200"/>
            <a:ext cx="7324825" cy="5973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5407" y="1607608"/>
            <a:ext cx="6937793" cy="2758319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 indent="14604">
              <a:lnSpc>
                <a:spcPct val="90000"/>
              </a:lnSpc>
              <a:spcBef>
                <a:spcPts val="665"/>
              </a:spcBef>
            </a:pPr>
            <a:r>
              <a:rPr sz="4800" b="1" spc="-40" dirty="0">
                <a:solidFill>
                  <a:srgbClr val="081A36"/>
                </a:solidFill>
              </a:rPr>
              <a:t>The</a:t>
            </a:r>
            <a:r>
              <a:rPr sz="4800" b="1" spc="-250" dirty="0">
                <a:solidFill>
                  <a:srgbClr val="081A36"/>
                </a:solidFill>
              </a:rPr>
              <a:t> </a:t>
            </a:r>
            <a:r>
              <a:rPr sz="4800" b="1" dirty="0">
                <a:solidFill>
                  <a:srgbClr val="01112B"/>
                </a:solidFill>
              </a:rPr>
              <a:t>Vision:</a:t>
            </a:r>
            <a:r>
              <a:rPr sz="4800" b="1" spc="-145" dirty="0">
                <a:solidFill>
                  <a:srgbClr val="01112B"/>
                </a:solidFill>
              </a:rPr>
              <a:t> </a:t>
            </a:r>
            <a:r>
              <a:rPr sz="4800" b="1" dirty="0">
                <a:solidFill>
                  <a:srgbClr val="071A3A"/>
                </a:solidFill>
              </a:rPr>
              <a:t>An</a:t>
            </a:r>
            <a:r>
              <a:rPr sz="4800" b="1" spc="-285" dirty="0">
                <a:solidFill>
                  <a:srgbClr val="071A3A"/>
                </a:solidFill>
              </a:rPr>
              <a:t> </a:t>
            </a:r>
            <a:r>
              <a:rPr sz="4800" b="1" spc="35" dirty="0">
                <a:solidFill>
                  <a:srgbClr val="03152F"/>
                </a:solidFill>
              </a:rPr>
              <a:t>Always-</a:t>
            </a:r>
            <a:r>
              <a:rPr sz="4700" b="1" spc="-30" dirty="0">
                <a:solidFill>
                  <a:srgbClr val="011128"/>
                </a:solidFill>
              </a:rPr>
              <a:t>On,</a:t>
            </a:r>
            <a:r>
              <a:rPr sz="4700" b="1" spc="-300" dirty="0">
                <a:solidFill>
                  <a:srgbClr val="011128"/>
                </a:solidFill>
              </a:rPr>
              <a:t> </a:t>
            </a:r>
            <a:r>
              <a:rPr sz="4700" b="1" spc="60" dirty="0">
                <a:solidFill>
                  <a:srgbClr val="031638"/>
                </a:solidFill>
              </a:rPr>
              <a:t>Adaptive</a:t>
            </a:r>
            <a:r>
              <a:rPr sz="4700" b="1" spc="-310" dirty="0">
                <a:solidFill>
                  <a:srgbClr val="031638"/>
                </a:solidFill>
              </a:rPr>
              <a:t> </a:t>
            </a:r>
            <a:r>
              <a:rPr sz="4700" b="1" dirty="0">
                <a:solidFill>
                  <a:srgbClr val="010F26"/>
                </a:solidFill>
              </a:rPr>
              <a:t>Layer</a:t>
            </a:r>
            <a:r>
              <a:rPr sz="4700" b="1" spc="-55" dirty="0">
                <a:solidFill>
                  <a:srgbClr val="010F26"/>
                </a:solidFill>
              </a:rPr>
              <a:t> </a:t>
            </a:r>
            <a:r>
              <a:rPr sz="4700" b="1" spc="100" dirty="0">
                <a:solidFill>
                  <a:srgbClr val="0A1A34"/>
                </a:solidFill>
              </a:rPr>
              <a:t>for </a:t>
            </a:r>
            <a:r>
              <a:rPr sz="4850" b="1" spc="-55" dirty="0">
                <a:solidFill>
                  <a:srgbClr val="011126"/>
                </a:solidFill>
              </a:rPr>
              <a:t>Total</a:t>
            </a:r>
            <a:r>
              <a:rPr sz="4850" b="1" spc="-450" dirty="0">
                <a:solidFill>
                  <a:srgbClr val="011126"/>
                </a:solidFill>
              </a:rPr>
              <a:t> </a:t>
            </a:r>
            <a:r>
              <a:rPr sz="4850" b="1" spc="-10" dirty="0">
                <a:solidFill>
                  <a:srgbClr val="031836"/>
                </a:solidFill>
              </a:rPr>
              <a:t>Maritime </a:t>
            </a:r>
            <a:r>
              <a:rPr sz="4700" b="1" spc="-10" dirty="0">
                <a:solidFill>
                  <a:srgbClr val="031636"/>
                </a:solidFill>
              </a:rPr>
              <a:t>Awareness</a:t>
            </a:r>
            <a:endParaRPr sz="4700" b="1" dirty="0"/>
          </a:p>
        </p:txBody>
      </p:sp>
      <p:sp>
        <p:nvSpPr>
          <p:cNvPr id="5" name="object 5"/>
          <p:cNvSpPr txBox="1"/>
          <p:nvPr/>
        </p:nvSpPr>
        <p:spPr>
          <a:xfrm>
            <a:off x="915100" y="4740275"/>
            <a:ext cx="5839460" cy="9207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00990" marR="5080" indent="-288925">
              <a:lnSpc>
                <a:spcPts val="3300"/>
              </a:lnSpc>
              <a:spcBef>
                <a:spcPts val="585"/>
              </a:spcBef>
              <a:buChar char="•"/>
              <a:tabLst>
                <a:tab pos="300990" algn="l"/>
                <a:tab pos="310515" algn="l"/>
              </a:tabLst>
            </a:pPr>
            <a:r>
              <a:rPr sz="3100" dirty="0">
                <a:solidFill>
                  <a:srgbClr val="505050"/>
                </a:solidFill>
                <a:latin typeface="Calibri"/>
                <a:cs typeface="Calibri"/>
              </a:rPr>
              <a:t>	</a:t>
            </a:r>
            <a:r>
              <a:rPr sz="3100" spc="-135" dirty="0">
                <a:latin typeface="Calibri"/>
                <a:cs typeface="Calibri"/>
              </a:rPr>
              <a:t>Continuous,</a:t>
            </a:r>
            <a:r>
              <a:rPr sz="3100" spc="95" dirty="0">
                <a:latin typeface="Calibri"/>
                <a:cs typeface="Calibri"/>
              </a:rPr>
              <a:t> </a:t>
            </a:r>
            <a:r>
              <a:rPr sz="3100" spc="-125" dirty="0">
                <a:latin typeface="Calibri"/>
                <a:cs typeface="Calibri"/>
              </a:rPr>
              <a:t>high-resolution</a:t>
            </a:r>
            <a:r>
              <a:rPr sz="3100" spc="-50" dirty="0">
                <a:latin typeface="Calibri"/>
                <a:cs typeface="Calibri"/>
              </a:rPr>
              <a:t> </a:t>
            </a:r>
            <a:r>
              <a:rPr sz="3100" spc="-145" dirty="0">
                <a:latin typeface="Calibri"/>
                <a:cs typeface="Calibri"/>
              </a:rPr>
              <a:t>DAS</a:t>
            </a:r>
            <a:r>
              <a:rPr sz="3100" spc="-4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data </a:t>
            </a:r>
            <a:r>
              <a:rPr sz="3100" spc="-100" dirty="0">
                <a:latin typeface="Calibri"/>
                <a:cs typeface="Calibri"/>
              </a:rPr>
              <a:t>streams</a:t>
            </a:r>
            <a:r>
              <a:rPr sz="3100" spc="-75" dirty="0">
                <a:latin typeface="Calibri"/>
                <a:cs typeface="Calibri"/>
              </a:rPr>
              <a:t> </a:t>
            </a:r>
            <a:r>
              <a:rPr sz="3100" spc="-160" dirty="0">
                <a:latin typeface="Calibri"/>
                <a:cs typeface="Calibri"/>
              </a:rPr>
              <a:t>are</a:t>
            </a:r>
            <a:r>
              <a:rPr sz="3100" spc="-80" dirty="0">
                <a:latin typeface="Calibri"/>
                <a:cs typeface="Calibri"/>
              </a:rPr>
              <a:t> </a:t>
            </a:r>
            <a:r>
              <a:rPr sz="3100" spc="-105" dirty="0">
                <a:latin typeface="Calibri"/>
                <a:cs typeface="Calibri"/>
              </a:rPr>
              <a:t>processed</a:t>
            </a:r>
            <a:r>
              <a:rPr sz="3100" spc="30" dirty="0">
                <a:latin typeface="Calibri"/>
                <a:cs typeface="Calibri"/>
              </a:rPr>
              <a:t> </a:t>
            </a:r>
            <a:r>
              <a:rPr sz="3100" spc="-114" dirty="0">
                <a:latin typeface="Calibri"/>
                <a:cs typeface="Calibri"/>
              </a:rPr>
              <a:t>in</a:t>
            </a:r>
            <a:r>
              <a:rPr sz="3100" spc="-80" dirty="0">
                <a:latin typeface="Calibri"/>
                <a:cs typeface="Calibri"/>
              </a:rPr>
              <a:t> </a:t>
            </a:r>
            <a:r>
              <a:rPr sz="3100" spc="-85" dirty="0">
                <a:latin typeface="Calibri"/>
                <a:cs typeface="Calibri"/>
              </a:rPr>
              <a:t>real</a:t>
            </a:r>
            <a:r>
              <a:rPr sz="3100" spc="-18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time.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762" y="5940072"/>
            <a:ext cx="6334125" cy="285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4960" indent="-300355">
              <a:lnSpc>
                <a:spcPts val="3225"/>
              </a:lnSpc>
              <a:spcBef>
                <a:spcPts val="125"/>
              </a:spcBef>
              <a:buClr>
                <a:srgbClr val="525252"/>
              </a:buClr>
              <a:buChar char="•"/>
              <a:tabLst>
                <a:tab pos="314960" algn="l"/>
              </a:tabLst>
            </a:pPr>
            <a:r>
              <a:rPr sz="2750" spc="60" dirty="0">
                <a:latin typeface="Calibri"/>
                <a:cs typeface="Calibri"/>
              </a:rPr>
              <a:t>Sequence-</a:t>
            </a:r>
            <a:r>
              <a:rPr sz="2750" spc="65" dirty="0">
                <a:latin typeface="Calibri"/>
                <a:cs typeface="Calibri"/>
              </a:rPr>
              <a:t>aware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50" dirty="0">
                <a:latin typeface="Calibri"/>
                <a:cs typeface="Calibri"/>
              </a:rPr>
              <a:t>AI</a:t>
            </a:r>
            <a:r>
              <a:rPr sz="2750" spc="225" dirty="0">
                <a:latin typeface="Calibri"/>
                <a:cs typeface="Calibri"/>
              </a:rPr>
              <a:t> </a:t>
            </a:r>
            <a:r>
              <a:rPr sz="2750" spc="50" dirty="0">
                <a:latin typeface="Calibri"/>
                <a:cs typeface="Calibri"/>
              </a:rPr>
              <a:t>models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continuously</a:t>
            </a:r>
            <a:endParaRPr sz="2750">
              <a:latin typeface="Calibri"/>
              <a:cs typeface="Calibri"/>
            </a:endParaRPr>
          </a:p>
          <a:p>
            <a:pPr marL="297180">
              <a:lnSpc>
                <a:spcPts val="3404"/>
              </a:lnSpc>
            </a:pPr>
            <a:r>
              <a:rPr sz="2900" spc="-10" dirty="0">
                <a:latin typeface="Calibri"/>
                <a:cs typeface="Calibri"/>
              </a:rPr>
              <a:t>detect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classify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70" dirty="0">
                <a:latin typeface="Calibri"/>
                <a:cs typeface="Calibri"/>
              </a:rPr>
              <a:t>alt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acoustic</a:t>
            </a:r>
            <a:r>
              <a:rPr sz="2900" spc="114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events.</a:t>
            </a:r>
            <a:endParaRPr sz="2900">
              <a:latin typeface="Calibri"/>
              <a:cs typeface="Calibri"/>
            </a:endParaRPr>
          </a:p>
          <a:p>
            <a:pPr marL="297815" marR="583565" indent="-285750">
              <a:lnSpc>
                <a:spcPct val="91300"/>
              </a:lnSpc>
              <a:spcBef>
                <a:spcPts val="2680"/>
              </a:spcBef>
              <a:buChar char="•"/>
              <a:tabLst>
                <a:tab pos="297815" algn="l"/>
                <a:tab pos="311785" algn="l"/>
              </a:tabLst>
            </a:pPr>
            <a:r>
              <a:rPr sz="2950" dirty="0">
                <a:solidFill>
                  <a:srgbClr val="565656"/>
                </a:solidFill>
                <a:latin typeface="Calibri"/>
                <a:cs typeface="Calibri"/>
              </a:rPr>
              <a:t>	</a:t>
            </a:r>
            <a:r>
              <a:rPr sz="2950" dirty="0">
                <a:latin typeface="Calibri"/>
                <a:cs typeface="Calibri"/>
              </a:rPr>
              <a:t>This</a:t>
            </a:r>
            <a:r>
              <a:rPr sz="2950" spc="-180" dirty="0">
                <a:latin typeface="Calibri"/>
                <a:cs typeface="Calibri"/>
              </a:rPr>
              <a:t> </a:t>
            </a:r>
            <a:r>
              <a:rPr sz="2950" spc="-45" dirty="0">
                <a:latin typeface="Calibri"/>
                <a:cs typeface="Calibri"/>
              </a:rPr>
              <a:t>provides</a:t>
            </a:r>
            <a:r>
              <a:rPr sz="2950" spc="-90" dirty="0">
                <a:latin typeface="Calibri"/>
                <a:cs typeface="Calibri"/>
              </a:rPr>
              <a:t> </a:t>
            </a:r>
            <a:r>
              <a:rPr sz="2950" spc="-35" dirty="0">
                <a:latin typeface="Calibri"/>
                <a:cs typeface="Calibri"/>
              </a:rPr>
              <a:t>an</a:t>
            </a:r>
            <a:r>
              <a:rPr sz="2950" spc="-130" dirty="0">
                <a:latin typeface="Calibri"/>
                <a:cs typeface="Calibri"/>
              </a:rPr>
              <a:t> </a:t>
            </a:r>
            <a:r>
              <a:rPr sz="2950" spc="-65" dirty="0">
                <a:latin typeface="Calibri"/>
                <a:cs typeface="Calibri"/>
              </a:rPr>
              <a:t>independent,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spc="-20" dirty="0">
                <a:latin typeface="Calibri"/>
                <a:cs typeface="Calibri"/>
              </a:rPr>
              <a:t>non- </a:t>
            </a:r>
            <a:r>
              <a:rPr sz="2950" spc="-60" dirty="0">
                <a:latin typeface="Calibri"/>
                <a:cs typeface="Calibri"/>
              </a:rPr>
              <a:t>cooperative</a:t>
            </a:r>
            <a:r>
              <a:rPr sz="2950" spc="-20" dirty="0">
                <a:latin typeface="Calibri"/>
                <a:cs typeface="Calibri"/>
              </a:rPr>
              <a:t> surveillance</a:t>
            </a:r>
            <a:r>
              <a:rPr sz="2950" spc="-30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layer</a:t>
            </a:r>
            <a:r>
              <a:rPr sz="2950" spc="-105" dirty="0">
                <a:latin typeface="Calibri"/>
                <a:cs typeface="Calibri"/>
              </a:rPr>
              <a:t> </a:t>
            </a:r>
            <a:r>
              <a:rPr sz="2950" spc="-20" dirty="0">
                <a:latin typeface="Calibri"/>
                <a:cs typeface="Calibri"/>
              </a:rPr>
              <a:t>that </a:t>
            </a:r>
            <a:r>
              <a:rPr sz="2950" spc="-45" dirty="0">
                <a:latin typeface="Calibri"/>
                <a:cs typeface="Calibri"/>
              </a:rPr>
              <a:t>augments</a:t>
            </a:r>
            <a:r>
              <a:rPr sz="2950" spc="45" dirty="0">
                <a:latin typeface="Calibri"/>
                <a:cs typeface="Calibri"/>
              </a:rPr>
              <a:t> </a:t>
            </a:r>
            <a:r>
              <a:rPr sz="2950" spc="75" dirty="0">
                <a:latin typeface="Calibri"/>
                <a:cs typeface="Calibri"/>
              </a:rPr>
              <a:t>AIS,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effectively</a:t>
            </a:r>
            <a:r>
              <a:rPr sz="2950" spc="45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closing</a:t>
            </a:r>
            <a:r>
              <a:rPr sz="2950" spc="-95" dirty="0">
                <a:latin typeface="Calibri"/>
                <a:cs typeface="Calibri"/>
              </a:rPr>
              <a:t> </a:t>
            </a:r>
            <a:r>
              <a:rPr sz="2950" spc="-55" dirty="0">
                <a:latin typeface="Calibri"/>
                <a:cs typeface="Calibri"/>
              </a:rPr>
              <a:t>the </a:t>
            </a:r>
            <a:r>
              <a:rPr sz="2950" spc="-45" dirty="0">
                <a:latin typeface="Calibri"/>
                <a:cs typeface="Calibri"/>
              </a:rPr>
              <a:t>“dark</a:t>
            </a:r>
            <a:r>
              <a:rPr sz="2950" spc="-55" dirty="0">
                <a:latin typeface="Calibri"/>
                <a:cs typeface="Calibri"/>
              </a:rPr>
              <a:t> </a:t>
            </a:r>
            <a:r>
              <a:rPr sz="2950" spc="-25" dirty="0">
                <a:latin typeface="Calibri"/>
                <a:cs typeface="Calibri"/>
              </a:rPr>
              <a:t>ship”</a:t>
            </a:r>
            <a:r>
              <a:rPr sz="2950" spc="-130" dirty="0">
                <a:latin typeface="Calibri"/>
                <a:cs typeface="Calibri"/>
              </a:rPr>
              <a:t> </a:t>
            </a:r>
            <a:r>
              <a:rPr sz="2950" spc="-35" dirty="0">
                <a:latin typeface="Calibri"/>
                <a:cs typeface="Calibri"/>
              </a:rPr>
              <a:t>blind</a:t>
            </a:r>
            <a:r>
              <a:rPr sz="2950" spc="-13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spot.</a:t>
            </a:r>
            <a:endParaRPr sz="2950">
              <a:latin typeface="Calibri"/>
              <a:cs typeface="Calibri"/>
            </a:endParaRPr>
          </a:p>
        </p:txBody>
      </p:sp>
      <p:pic>
        <p:nvPicPr>
          <p:cNvPr id="16" name="Picture 15" descr="A map of different types of ships&#10;&#10;AI-generated content may be incorrect.">
            <a:extLst>
              <a:ext uri="{FF2B5EF4-FFF2-40B4-BE49-F238E27FC236}">
                <a16:creationId xmlns:a16="http://schemas.microsoft.com/office/drawing/2014/main" id="{56447DA9-6F18-3EF5-31D4-9698DDD4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034" y="2889118"/>
            <a:ext cx="7685742" cy="55438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5600" y="8648700"/>
            <a:ext cx="609600" cy="596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45809" y="8667044"/>
            <a:ext cx="833945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50" dirty="0">
                <a:solidFill>
                  <a:srgbClr val="1F1F1F"/>
                </a:solidFill>
                <a:latin typeface="Calibri"/>
                <a:cs typeface="Calibri"/>
              </a:rPr>
              <a:t>Project</a:t>
            </a:r>
            <a:r>
              <a:rPr sz="3050" spc="-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12121"/>
                </a:solidFill>
                <a:latin typeface="Calibri"/>
                <a:cs typeface="Calibri"/>
              </a:rPr>
              <a:t>Code:</a:t>
            </a:r>
            <a:r>
              <a:rPr sz="3050" spc="-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050" spc="-45" dirty="0">
                <a:solidFill>
                  <a:srgbClr val="131313"/>
                </a:solidFill>
                <a:latin typeface="Calibri"/>
                <a:cs typeface="Calibri"/>
              </a:rPr>
              <a:t>github.com/</a:t>
            </a:r>
            <a:r>
              <a:rPr lang="en-US" sz="3050" spc="-45" dirty="0" err="1">
                <a:solidFill>
                  <a:srgbClr val="131313"/>
                </a:solidFill>
                <a:latin typeface="Calibri"/>
                <a:cs typeface="Calibri"/>
              </a:rPr>
              <a:t>ghjacobsen</a:t>
            </a:r>
            <a:r>
              <a:rPr lang="en-US" sz="3050" spc="-45" dirty="0">
                <a:solidFill>
                  <a:srgbClr val="131313"/>
                </a:solidFill>
                <a:latin typeface="Calibri"/>
                <a:cs typeface="Calibri"/>
              </a:rPr>
              <a:t>/</a:t>
            </a:r>
            <a:r>
              <a:rPr lang="en-US" sz="3050" spc="-45" dirty="0" err="1">
                <a:solidFill>
                  <a:srgbClr val="131313"/>
                </a:solidFill>
                <a:latin typeface="Calibri"/>
                <a:cs typeface="Calibri"/>
              </a:rPr>
              <a:t>DASProject</a:t>
            </a:r>
            <a:endParaRPr sz="3050" dirty="0">
              <a:latin typeface="Calibri"/>
              <a:cs typeface="Calibri"/>
            </a:endParaRPr>
          </a:p>
        </p:txBody>
      </p:sp>
      <p:pic>
        <p:nvPicPr>
          <p:cNvPr id="10" name="Picture 9" descr="A close up of a sign&#10;&#10;AI-generated content may be incorrect.">
            <a:extLst>
              <a:ext uri="{FF2B5EF4-FFF2-40B4-BE49-F238E27FC236}">
                <a16:creationId xmlns:a16="http://schemas.microsoft.com/office/drawing/2014/main" id="{DB9CAE94-0929-2636-D504-D63DCEFA0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05" b="89831" l="6324" r="89921">
                        <a14:foregroundMark x1="10079" y1="50282" x2="10277" y2="24859"/>
                        <a14:foregroundMark x1="10277" y1="24859" x2="10277" y2="24859"/>
                        <a14:foregroundMark x1="18577" y1="47458" x2="19960" y2="19209"/>
                        <a14:foregroundMark x1="6324" y1="20339" x2="6324" y2="20339"/>
                        <a14:foregroundMark x1="29249" y1="30508" x2="34585" y2="33333"/>
                        <a14:foregroundMark x1="38340" y1="50282" x2="37747" y2="34463"/>
                        <a14:foregroundMark x1="49802" y1="28814" x2="49605" y2="40678"/>
                        <a14:foregroundMark x1="70949" y1="23164" x2="65810" y2="44068"/>
                        <a14:foregroundMark x1="78854" y1="50282" x2="80237" y2="45198"/>
                        <a14:foregroundMark x1="84980" y1="34463" x2="84980" y2="38418"/>
                        <a14:foregroundMark x1="73320" y1="77401" x2="73320" y2="77401"/>
                        <a14:foregroundMark x1="67194" y1="81356" x2="67194" y2="81356"/>
                        <a14:foregroundMark x1="65020" y1="79096" x2="65020" y2="79096"/>
                        <a14:foregroundMark x1="58103" y1="78531" x2="58103" y2="78531"/>
                        <a14:foregroundMark x1="54348" y1="80791" x2="54348" y2="80791"/>
                        <a14:foregroundMark x1="48221" y1="81921" x2="48221" y2="81921"/>
                        <a14:foregroundMark x1="45850" y1="82486" x2="45850" y2="82486"/>
                        <a14:foregroundMark x1="46443" y1="81921" x2="46443" y2="81921"/>
                        <a14:foregroundMark x1="47826" y1="72316" x2="47826" y2="72316"/>
                        <a14:foregroundMark x1="66206" y1="73446" x2="66206" y2="73446"/>
                        <a14:foregroundMark x1="39723" y1="80791" x2="39723" y2="80791"/>
                        <a14:foregroundMark x1="35178" y1="79096" x2="35178" y2="79096"/>
                        <a14:foregroundMark x1="31423" y1="75141" x2="31423" y2="75141"/>
                        <a14:foregroundMark x1="26877" y1="78531" x2="26877" y2="78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87877" y="3505200"/>
            <a:ext cx="6099446" cy="213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1372</Words>
  <Application>Microsoft Office PowerPoint</Application>
  <PresentationFormat>Custom</PresentationFormat>
  <Paragraphs>88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MT</vt:lpstr>
      <vt:lpstr>Calibri</vt:lpstr>
      <vt:lpstr>Cambria</vt:lpstr>
      <vt:lpstr>Office Theme</vt:lpstr>
      <vt:lpstr>The Unseen Fleet</vt:lpstr>
      <vt:lpstr>PowerPoint Presentation</vt:lpstr>
      <vt:lpstr>Today's Maritime</vt:lpstr>
      <vt:lpstr>We Can Turn Seabed Fiber Optic Cables into a Vast Acoustic Array</vt:lpstr>
      <vt:lpstr>Raw DAS Data is Complex and Filled with Noise</vt:lpstr>
      <vt:lpstr>Approach: Framing Anomaly Detection as an Image Recognition Task</vt:lpstr>
      <vt:lpstr>The Model Reliably Identified True Ship Signatures</vt:lpstr>
      <vt:lpstr>We Found Acoustic Signatures with AIS Broadcast</vt:lpstr>
      <vt:lpstr>Our CNN Approach Was One Path of Many Explored</vt:lpstr>
      <vt:lpstr>Explored Path #1: Spatiotemporal Graph Diffusion</vt:lpstr>
      <vt:lpstr>Explored Path #2: Unsupervised Autoencoders</vt:lpstr>
      <vt:lpstr>Future Models Must Evolve to Understand Time and context.</vt:lpstr>
      <vt:lpstr>The Vision: An Always-On, Adaptive Layer for Total Maritime Awareness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Gustav Jacobsen</dc:creator>
  <cp:lastModifiedBy>Gustav Jacobsen</cp:lastModifiedBy>
  <cp:revision>2</cp:revision>
  <dcterms:created xsi:type="dcterms:W3CDTF">2025-12-15T09:34:55Z</dcterms:created>
  <dcterms:modified xsi:type="dcterms:W3CDTF">2025-12-15T14:16:33Z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2025-12-15T00:00:00Z</vt:filetime>
  </property>
  <property fmtid="{D5CDD505-2E9C-101B-9397-08002B2CF9AE}" pid="3" name="LastSaved">
    <vt:filetime>2025-12-15T00:00:00Z</vt:filetime>
  </property>
</Properties>
</file>